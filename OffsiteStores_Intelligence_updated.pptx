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83" r:id="rId2"/>
    <p:sldId id="282" r:id="rId3"/>
    <p:sldId id="284" r:id="rId4"/>
    <p:sldId id="285" r:id="rId5"/>
    <p:sldId id="288" r:id="rId6"/>
    <p:sldId id="289" r:id="rId12"/>
    <p:sldId id="29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Legacy</c:v>
                </c:pt>
              </c:strCache>
            </c:strRef>
          </c:tx>
          <c:spPr>
            <a:solidFill>
              <a:srgbClr val="4A90D9"/>
            </a:solidFill>
          </c:spPr>
          <c:invertIfNegative val="1"/>
          <c:cat>
            <c:strRef>
              <c:f>Sheet1!$A$2:$A$7</c:f>
              <c:strCache>
                <c:ptCount val="6"/>
                <c:pt idx="0">
                  <c:v>Apr 18</c:v>
                </c:pt>
                <c:pt idx="1">
                  <c:v>Apr 25</c:v>
                </c:pt>
                <c:pt idx="2">
                  <c:v>May 2</c:v>
                </c:pt>
                <c:pt idx="3">
                  <c:v>May 9</c:v>
                </c:pt>
                <c:pt idx="4">
                  <c:v>May 16</c:v>
                </c:pt>
                <c:pt idx="5">
                  <c:v>May 23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351</c:v>
                </c:pt>
                <c:pt idx="1">
                  <c:v>590</c:v>
                </c:pt>
                <c:pt idx="2">
                  <c:v>593</c:v>
                </c:pt>
                <c:pt idx="3">
                  <c:v>596</c:v>
                </c:pt>
                <c:pt idx="4">
                  <c:v>561</c:v>
                </c:pt>
                <c:pt idx="5">
                  <c:v>47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8B0C-4C26-BEE9-D727CBFD832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MI-360</c:v>
                </c:pt>
              </c:strCache>
            </c:strRef>
          </c:tx>
          <c:spPr>
            <a:solidFill>
              <a:srgbClr val="2ECC9A"/>
            </a:solidFill>
          </c:spPr>
          <c:invertIfNegative val="1"/>
          <c:cat>
            <c:strRef>
              <c:f>Sheet1!$A$2:$A$7</c:f>
              <c:strCache>
                <c:ptCount val="6"/>
                <c:pt idx="0">
                  <c:v>Apr 18</c:v>
                </c:pt>
                <c:pt idx="1">
                  <c:v>Apr 25</c:v>
                </c:pt>
                <c:pt idx="2">
                  <c:v>May 2</c:v>
                </c:pt>
                <c:pt idx="3">
                  <c:v>May 9</c:v>
                </c:pt>
                <c:pt idx="4">
                  <c:v>May 16</c:v>
                </c:pt>
                <c:pt idx="5">
                  <c:v>May 23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95</c:v>
                </c:pt>
                <c:pt idx="1">
                  <c:v>90</c:v>
                </c:pt>
                <c:pt idx="2">
                  <c:v>108</c:v>
                </c:pt>
                <c:pt idx="3">
                  <c:v>281</c:v>
                </c:pt>
                <c:pt idx="4">
                  <c:v>210</c:v>
                </c:pt>
                <c:pt idx="5">
                  <c:v>215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8B0C-4C26-BEE9-D727CBFD83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FFFFFF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spPr>
          <a:solidFill>
            <a:srgbClr val="333355"/>
          </a:solidFill>
          <a:ln>
            <a:solidFill>
              <a:srgbClr val="444466"/>
            </a:solidFill>
          </a:ln>
        </c:spPr>
        <c:txPr>
          <a:bodyPr/>
          <a:lstStyle/>
          <a:p>
            <a:pPr>
              <a:defRPr sz="1000">
                <a:solidFill>
                  <a:srgbClr val="FFFFFF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  <c:spPr>
        <a:solidFill>
          <a:srgbClr val="14143A"/>
        </a:solidFill>
      </c:spPr>
    </c:plotArea>
    <c:legend>
      <c:legendPos val="r"/>
      <c:overlay val="1"/>
      <c:txPr>
        <a:bodyPr/>
        <a:lstStyle/>
        <a:p>
          <a:pPr>
            <a:defRPr sz="11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gap"/>
    <c:showDLblsOverMax val="1"/>
  </c:chart>
  <c:spPr>
    <a:solidFill>
      <a:srgbClr val="0D0D2B"/>
    </a:solidFill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CBE5C5-672D-4031-B91F-E304F5087AFA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15E02D-1B17-4D5E-B45D-7327E7E6E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86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5E02D-1B17-4D5E-B45D-7327E7E6EB3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4447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0CDE-5BD6-86CC-3FA3-E8FAEB9F6E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F4F3F2-EAF5-C074-EA21-F3DAED07B0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196DA1-0567-2EAA-1FAB-782FC4261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A6E68-CF78-4735-94CF-1C5C5DFD8316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6A8AA3-727D-1EB9-B39E-5AA656965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89E2E7-4C0F-E98D-9C3A-5C39DB28C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04F6B-F17E-4BB2-A7A3-68DEC73CC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5824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564AC-6502-0E74-FE6B-FB79B929E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0FDAD-4CC9-A163-EAC8-ABD8C1418A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7F22ED-4C15-5512-7541-CAB67D1F6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A6E68-CF78-4735-94CF-1C5C5DFD8316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BBD33E-D902-42AD-166A-EE209F15A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4E21D-AEF0-4BFC-70A8-B087B3EB5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04F6B-F17E-4BB2-A7A3-68DEC73CC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152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3C35F-CBAD-EB29-8F5B-4649BEA68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772D32-9E7D-37F7-EF4C-DEAB014601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CB185B-7A88-7726-FF31-723801C9A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A6E68-CF78-4735-94CF-1C5C5DFD8316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626773-44AF-B0A4-C897-B5928F562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10D662-3E24-0A39-13E5-57BD4E700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04F6B-F17E-4BB2-A7A3-68DEC73CC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812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862E5-2595-8E96-A7BB-A7D9C3C58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38DB5-3F66-D399-FFB5-B1E528344C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942D07-3D10-928C-04C7-6EEDA32F42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C5A38A-22BD-8CD9-A286-C6E0402EF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A6E68-CF78-4735-94CF-1C5C5DFD8316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27DFEB-46F9-DBF8-E415-D3D76BF68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248083-6717-4481-8995-F17198F67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04F6B-F17E-4BB2-A7A3-68DEC73CC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78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D0CD7-1A75-C18E-4C24-C737080E4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8D33CE-FB39-391B-B19D-497445E9D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D76060-C028-A89D-4E94-C754B8ED1B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FFFBB7-A2D9-B342-7FAD-5523D95E2C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A73710-9C84-C7F0-AB44-92CC479604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22D7ED-8539-B091-FEB9-AB8CB0C49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A6E68-CF78-4735-94CF-1C5C5DFD8316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F83F45-7E39-580F-9AA4-8D42C9279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9C2D94-4786-9E72-03E7-E54C738BD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04F6B-F17E-4BB2-A7A3-68DEC73CC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035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20574-6DB6-0587-F99C-1BE2EE2B0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20BE8F-2A82-7D8C-1515-9C2A88A55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A6E68-CF78-4735-94CF-1C5C5DFD8316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2312F9-5AEE-1D34-1B59-070F5D0DB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65A01D-13DD-804A-2B9A-14505BAAF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04F6B-F17E-4BB2-A7A3-68DEC73CC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469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7F2CA8-AFBA-6EA8-6D6B-59ED834F6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A6E68-CF78-4735-94CF-1C5C5DFD8316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C5D4EC-CE5A-4036-15F3-5BA62DABF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3897D7-96B5-C11B-7D94-906D43E5B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04F6B-F17E-4BB2-A7A3-68DEC73CC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107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C2DC3-470F-EB51-0721-9AC20B596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A8249-6EEE-A0E0-AC43-0D6D0FE0E4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5FABC2-8C77-5A94-123B-E1F2532CFF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84313E-24C0-FDB4-4152-B7DFF064F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A6E68-CF78-4735-94CF-1C5C5DFD8316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CE17F7-1C52-DB73-6CBA-3773C75E5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D2C763-0FB1-23E0-3824-2C3BAE069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04F6B-F17E-4BB2-A7A3-68DEC73CC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515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39027-B41C-EEAE-7D45-05DDE2A74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B23BD5-DC97-5E5C-9A73-6CA1795B61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07993F-ED49-C797-0DE4-6D8DDC9C61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702A9-1CB1-8BE2-6BE0-34DB0D814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A6E68-CF78-4735-94CF-1C5C5DFD8316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E580E7-D372-283B-7529-9CC07C2F5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A15E7C-78D9-59F9-7EF4-E0830194D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04F6B-F17E-4BB2-A7A3-68DEC73CC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111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B8EC4-48A2-5233-7F3A-EFAB60740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EADD7D-C3A2-9695-2FCF-D591353F40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F7140C-2461-E500-8BC1-E6FCF8574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A6E68-CF78-4735-94CF-1C5C5DFD8316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549EE8-ADF5-F633-B4FE-703BEB620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EB5DB3-D835-A0E2-46E6-2414F8019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04F6B-F17E-4BB2-A7A3-68DEC73CC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239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969006-1143-1F4B-226D-8100883571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552241-CD9E-8304-EDA3-90B6F0E1CF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70329C-752B-0B4D-20FF-615E1379E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A6E68-CF78-4735-94CF-1C5C5DFD8316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AF429E-C129-AC54-6827-DFA337BC5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8F1C9A-F65E-8167-52BF-7CE68C907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04F6B-F17E-4BB2-A7A3-68DEC73CC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3662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500722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A68745-2904-CCEC-2BFF-9D240C5DD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54B61C-4181-B8FB-AB60-27E80B7A31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63FF47-31DB-9486-8774-0EE0DC19E6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BA6E68-CF78-4735-94CF-1C5C5DFD8316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6ABC9-3221-1699-EC04-095C0E61AD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4BBFFD-18B9-05FC-7985-CB2A255BDC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604F6B-F17E-4BB2-A7A3-68DEC73CC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24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426720" y="1584960"/>
            <a:ext cx="609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kern="0" spc="400" dirty="0">
                <a:solidFill>
                  <a:srgbClr val="EA580C"/>
                </a:solidFill>
              </a:rPr>
              <a:t>ROADMAP DEEP DIVE</a:t>
            </a:r>
            <a:endParaRPr lang="en-US" sz="1467" dirty="0"/>
          </a:p>
        </p:txBody>
      </p:sp>
      <p:sp>
        <p:nvSpPr>
          <p:cNvPr id="4" name="Text 2"/>
          <p:cNvSpPr/>
          <p:nvPr/>
        </p:nvSpPr>
        <p:spPr>
          <a:xfrm>
            <a:off x="426720" y="2072640"/>
            <a:ext cx="113385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6933" b="1" dirty="0">
                <a:solidFill>
                  <a:srgbClr val="FFFFFF"/>
                </a:solidFill>
              </a:rPr>
              <a:t>Stores</a:t>
            </a:r>
            <a:endParaRPr lang="en-US" sz="6933" dirty="0"/>
          </a:p>
          <a:p>
            <a:r>
              <a:rPr lang="en-US" sz="6933" b="1" dirty="0">
                <a:solidFill>
                  <a:srgbClr val="FFFFFF"/>
                </a:solidFill>
              </a:rPr>
              <a:t>Intelligence</a:t>
            </a:r>
            <a:endParaRPr lang="en-US" sz="6933" dirty="0"/>
          </a:p>
        </p:txBody>
      </p:sp>
      <p:sp>
        <p:nvSpPr>
          <p:cNvPr id="5" name="Text 3"/>
          <p:cNvSpPr/>
          <p:nvPr/>
        </p:nvSpPr>
        <p:spPr>
          <a:xfrm>
            <a:off x="426720" y="4389120"/>
            <a:ext cx="1133856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i="1" dirty="0">
                <a:solidFill>
                  <a:srgbClr val="EA580C"/>
                </a:solidFill>
              </a:rPr>
              <a:t>FY26 roadmap — what ships, what shifts, what to watch</a:t>
            </a:r>
            <a:endParaRPr lang="en-US" sz="1867" dirty="0"/>
          </a:p>
        </p:txBody>
      </p:sp>
      <p:sp>
        <p:nvSpPr>
          <p:cNvPr id="6" name="Text 4"/>
          <p:cNvSpPr/>
          <p:nvPr/>
        </p:nvSpPr>
        <p:spPr>
          <a:xfrm>
            <a:off x="426720" y="4998720"/>
            <a:ext cx="60960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9CA3AF"/>
                </a:solidFill>
              </a:rPr>
              <a:t>Three things to listen for:</a:t>
            </a:r>
            <a:endParaRPr lang="en-US" sz="1333" dirty="0"/>
          </a:p>
        </p:txBody>
      </p:sp>
      <p:sp>
        <p:nvSpPr>
          <p:cNvPr id="7" name="Text 5"/>
          <p:cNvSpPr/>
          <p:nvPr/>
        </p:nvSpPr>
        <p:spPr>
          <a:xfrm>
            <a:off x="426720" y="5388864"/>
            <a:ext cx="11338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9CA3AF"/>
                </a:solidFill>
              </a:rPr>
              <a:t>1.  Cadence: is the move from day-level to 15-minute reporting in Q3 paced against store readiness, or just engineering readiness?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6720" y="5791200"/>
            <a:ext cx="11338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9CA3AF"/>
                </a:solidFill>
              </a:rPr>
              <a:t>2.  Dependency: MI 360 carries fleet, GDP, OMNI/WFM/NPS, and the AI chatbot 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6720" y="6193536"/>
            <a:ext cx="11338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9CA3AF"/>
                </a:solidFill>
              </a:rPr>
              <a:t>3.  Sunset: report retirement in Q4 only works if the AI Summary in Q3 lands 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102"/>
          <p:cNvSpPr/>
          <p:nvPr/>
        </p:nvSpPr>
        <p:spPr>
          <a:xfrm>
            <a:off x="426720" y="304800"/>
            <a:ext cx="9333333" cy="5333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r>
              <a:rPr lang="en-US" sz="3733" b="1" dirty="0">
                <a:solidFill>
                  <a:srgbClr val="111827"/>
                </a:solidFill>
              </a:rPr>
              <a:t>Our Roadmap – FY26</a:t>
            </a:r>
          </a:p>
        </p:txBody>
      </p:sp>
      <p:sp>
        <p:nvSpPr>
          <p:cNvPr id="103" name="Text104"/>
          <p:cNvSpPr/>
          <p:nvPr/>
        </p:nvSpPr>
        <p:spPr>
          <a:xfrm>
            <a:off x="426720" y="853334"/>
            <a:ext cx="9333333" cy="3733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r>
              <a:rPr lang="en-US" sz="1867" i="1" dirty="0">
                <a:solidFill>
                  <a:srgbClr val="111827"/>
                </a:solidFill>
              </a:rPr>
              <a:t>Stores Intelligence</a:t>
            </a:r>
          </a:p>
        </p:txBody>
      </p:sp>
      <p:sp>
        <p:nvSpPr>
          <p:cNvPr id="111" name="Text112"/>
          <p:cNvSpPr/>
          <p:nvPr/>
        </p:nvSpPr>
        <p:spPr>
          <a:xfrm>
            <a:off x="240000" y="2160000"/>
            <a:ext cx="640000" cy="2133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/>
            <a:r>
              <a:rPr lang="en-US" sz="1200" dirty="0">
                <a:solidFill>
                  <a:srgbClr val="6B7280"/>
                </a:solidFill>
              </a:rPr>
              <a:t>Stores</a:t>
            </a:r>
          </a:p>
        </p:txBody>
      </p:sp>
      <p:sp>
        <p:nvSpPr>
          <p:cNvPr id="113" name="Text114"/>
          <p:cNvSpPr/>
          <p:nvPr/>
        </p:nvSpPr>
        <p:spPr>
          <a:xfrm>
            <a:off x="240000" y="3893334"/>
            <a:ext cx="640000" cy="2133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/>
            <a:r>
              <a:rPr lang="en-US" sz="1200" dirty="0">
                <a:solidFill>
                  <a:srgbClr val="6B7280"/>
                </a:solidFill>
              </a:rPr>
              <a:t>MI 360</a:t>
            </a:r>
          </a:p>
        </p:txBody>
      </p:sp>
      <p:cxnSp>
        <p:nvCxnSpPr>
          <p:cNvPr id="117" name="Line118"/>
          <p:cNvCxnSpPr/>
          <p:nvPr/>
        </p:nvCxnSpPr>
        <p:spPr>
          <a:xfrm>
            <a:off x="933333" y="1333334"/>
            <a:ext cx="0" cy="4933333"/>
          </a:xfrm>
          <a:prstGeom prst="line">
            <a:avLst/>
          </a:prstGeom>
          <a:ln w="6350">
            <a:solidFill>
              <a:srgbClr val="9CA3AF"/>
            </a:solidFill>
          </a:ln>
        </p:spPr>
      </p:cxnSp>
      <p:cxnSp>
        <p:nvCxnSpPr>
          <p:cNvPr id="119" name="Line120"/>
          <p:cNvCxnSpPr/>
          <p:nvPr/>
        </p:nvCxnSpPr>
        <p:spPr>
          <a:xfrm>
            <a:off x="3683333" y="1333334"/>
            <a:ext cx="0" cy="4933333"/>
          </a:xfrm>
          <a:prstGeom prst="line">
            <a:avLst/>
          </a:prstGeom>
          <a:ln w="6350">
            <a:solidFill>
              <a:srgbClr val="9CA3AF"/>
            </a:solidFill>
          </a:ln>
        </p:spPr>
      </p:cxnSp>
      <p:cxnSp>
        <p:nvCxnSpPr>
          <p:cNvPr id="121" name="Line122"/>
          <p:cNvCxnSpPr/>
          <p:nvPr/>
        </p:nvCxnSpPr>
        <p:spPr>
          <a:xfrm>
            <a:off x="6433333" y="1333334"/>
            <a:ext cx="0" cy="4933333"/>
          </a:xfrm>
          <a:prstGeom prst="line">
            <a:avLst/>
          </a:prstGeom>
          <a:ln w="6350">
            <a:solidFill>
              <a:srgbClr val="9CA3AF"/>
            </a:solidFill>
          </a:ln>
        </p:spPr>
      </p:cxnSp>
      <p:cxnSp>
        <p:nvCxnSpPr>
          <p:cNvPr id="123" name="Line124"/>
          <p:cNvCxnSpPr/>
          <p:nvPr/>
        </p:nvCxnSpPr>
        <p:spPr>
          <a:xfrm>
            <a:off x="9183333" y="1333334"/>
            <a:ext cx="0" cy="4933333"/>
          </a:xfrm>
          <a:prstGeom prst="line">
            <a:avLst/>
          </a:prstGeom>
          <a:ln w="6350">
            <a:solidFill>
              <a:srgbClr val="9CA3AF"/>
            </a:solidFill>
          </a:ln>
        </p:spPr>
      </p:cxnSp>
      <p:cxnSp>
        <p:nvCxnSpPr>
          <p:cNvPr id="125" name="Line126"/>
          <p:cNvCxnSpPr/>
          <p:nvPr/>
        </p:nvCxnSpPr>
        <p:spPr>
          <a:xfrm>
            <a:off x="11933333" y="1333334"/>
            <a:ext cx="0" cy="4933333"/>
          </a:xfrm>
          <a:prstGeom prst="line">
            <a:avLst/>
          </a:prstGeom>
          <a:ln w="6350">
            <a:solidFill>
              <a:srgbClr val="9CA3AF"/>
            </a:solidFill>
          </a:ln>
        </p:spPr>
      </p:cxnSp>
      <p:sp>
        <p:nvSpPr>
          <p:cNvPr id="127" name="Text128"/>
          <p:cNvSpPr/>
          <p:nvPr/>
        </p:nvSpPr>
        <p:spPr>
          <a:xfrm>
            <a:off x="973333" y="6293334"/>
            <a:ext cx="800000" cy="2933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r>
              <a:rPr lang="en-US" sz="1600" dirty="0">
                <a:solidFill>
                  <a:srgbClr val="111827"/>
                </a:solidFill>
              </a:rPr>
              <a:t>Q1 2026</a:t>
            </a:r>
          </a:p>
        </p:txBody>
      </p:sp>
      <p:sp>
        <p:nvSpPr>
          <p:cNvPr id="129" name="Text130"/>
          <p:cNvSpPr/>
          <p:nvPr/>
        </p:nvSpPr>
        <p:spPr>
          <a:xfrm>
            <a:off x="3723333" y="6293334"/>
            <a:ext cx="800000" cy="2933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r>
              <a:rPr lang="en-US" sz="1600" dirty="0">
                <a:solidFill>
                  <a:srgbClr val="111827"/>
                </a:solidFill>
              </a:rPr>
              <a:t>Q2 2026</a:t>
            </a:r>
          </a:p>
        </p:txBody>
      </p:sp>
      <p:sp>
        <p:nvSpPr>
          <p:cNvPr id="131" name="Text132"/>
          <p:cNvSpPr/>
          <p:nvPr/>
        </p:nvSpPr>
        <p:spPr>
          <a:xfrm>
            <a:off x="6473333" y="6293334"/>
            <a:ext cx="800000" cy="2933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r>
              <a:rPr lang="en-US" sz="1600" dirty="0">
                <a:solidFill>
                  <a:srgbClr val="111827"/>
                </a:solidFill>
              </a:rPr>
              <a:t>Q3 2026</a:t>
            </a:r>
          </a:p>
        </p:txBody>
      </p:sp>
      <p:sp>
        <p:nvSpPr>
          <p:cNvPr id="133" name="Text134"/>
          <p:cNvSpPr/>
          <p:nvPr/>
        </p:nvSpPr>
        <p:spPr>
          <a:xfrm>
            <a:off x="9223333" y="6293334"/>
            <a:ext cx="800000" cy="2933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r>
              <a:rPr lang="en-US" sz="1600" dirty="0">
                <a:solidFill>
                  <a:srgbClr val="111827"/>
                </a:solidFill>
              </a:rPr>
              <a:t>Q4 2026</a:t>
            </a:r>
          </a:p>
        </p:txBody>
      </p:sp>
      <p:sp>
        <p:nvSpPr>
          <p:cNvPr id="136" name="Bar135"/>
          <p:cNvSpPr/>
          <p:nvPr/>
        </p:nvSpPr>
        <p:spPr>
          <a:xfrm>
            <a:off x="960000" y="1413333"/>
            <a:ext cx="2696667" cy="266667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txBody>
          <a:bodyPr wrap="square" lIns="48000" tIns="24000" rIns="48000" bIns="24000" rtlCol="0" anchor="ctr"/>
          <a:lstStyle/>
          <a:p>
            <a:pPr algn="ctr"/>
            <a:r>
              <a:rPr lang="en-US" sz="933" b="1" dirty="0">
                <a:solidFill>
                  <a:srgbClr val="FFFFFF"/>
                </a:solidFill>
              </a:rPr>
              <a:t>Store Performance and Product Performance – Day level reporting</a:t>
            </a:r>
          </a:p>
        </p:txBody>
      </p:sp>
      <p:sp>
        <p:nvSpPr>
          <p:cNvPr id="138" name="Bar137"/>
          <p:cNvSpPr/>
          <p:nvPr/>
        </p:nvSpPr>
        <p:spPr>
          <a:xfrm>
            <a:off x="3710000" y="1406439"/>
            <a:ext cx="2696667" cy="266667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txBody>
          <a:bodyPr wrap="square" lIns="48000" tIns="24000" rIns="48000" bIns="24000" rtlCol="0" anchor="ctr"/>
          <a:lstStyle/>
          <a:p>
            <a:pPr algn="ctr"/>
            <a:r>
              <a:rPr lang="en-US" sz="1067" b="1" dirty="0">
                <a:solidFill>
                  <a:srgbClr val="FFFFFF"/>
                </a:solidFill>
              </a:rPr>
              <a:t>Peak – Available everyday</a:t>
            </a:r>
          </a:p>
        </p:txBody>
      </p:sp>
      <p:sp>
        <p:nvSpPr>
          <p:cNvPr id="140" name="Bar139"/>
          <p:cNvSpPr/>
          <p:nvPr/>
        </p:nvSpPr>
        <p:spPr>
          <a:xfrm>
            <a:off x="3710000" y="1720000"/>
            <a:ext cx="2696667" cy="266667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txBody>
          <a:bodyPr wrap="square" lIns="48000" tIns="24000" rIns="48000" bIns="24000" rtlCol="0" anchor="ctr"/>
          <a:lstStyle/>
          <a:p>
            <a:pPr algn="ctr"/>
            <a:r>
              <a:rPr lang="en-US" sz="1067" b="1" dirty="0">
                <a:solidFill>
                  <a:srgbClr val="FFFFFF"/>
                </a:solidFill>
              </a:rPr>
              <a:t>Mobile experience</a:t>
            </a:r>
          </a:p>
        </p:txBody>
      </p:sp>
      <p:sp>
        <p:nvSpPr>
          <p:cNvPr id="142" name="Bar141"/>
          <p:cNvSpPr/>
          <p:nvPr/>
        </p:nvSpPr>
        <p:spPr>
          <a:xfrm>
            <a:off x="6460000" y="1720000"/>
            <a:ext cx="2696667" cy="266667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txBody>
          <a:bodyPr wrap="square" lIns="48000" tIns="24000" rIns="48000" bIns="24000" rtlCol="0" anchor="ctr"/>
          <a:lstStyle/>
          <a:p>
            <a:pPr algn="ctr"/>
            <a:r>
              <a:rPr lang="en-US" sz="1067" b="1" dirty="0">
                <a:solidFill>
                  <a:srgbClr val="FFFFFF"/>
                </a:solidFill>
              </a:rPr>
              <a:t>Hourly report to 15min</a:t>
            </a:r>
          </a:p>
        </p:txBody>
      </p:sp>
      <p:sp>
        <p:nvSpPr>
          <p:cNvPr id="144" name="Bar143"/>
          <p:cNvSpPr/>
          <p:nvPr/>
        </p:nvSpPr>
        <p:spPr>
          <a:xfrm>
            <a:off x="960000" y="2026667"/>
            <a:ext cx="2696667" cy="266667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txBody>
          <a:bodyPr wrap="square" lIns="48000" tIns="24000" rIns="48000" bIns="24000" rtlCol="0" anchor="ctr"/>
          <a:lstStyle/>
          <a:p>
            <a:pPr algn="ctr"/>
            <a:r>
              <a:rPr lang="en-US" sz="1067" b="1" dirty="0">
                <a:solidFill>
                  <a:srgbClr val="FFFFFF"/>
                </a:solidFill>
              </a:rPr>
              <a:t>WFM – Loyalty and AI Forecasting</a:t>
            </a:r>
          </a:p>
        </p:txBody>
      </p:sp>
      <p:sp>
        <p:nvSpPr>
          <p:cNvPr id="146" name="Bar145"/>
          <p:cNvSpPr/>
          <p:nvPr/>
        </p:nvSpPr>
        <p:spPr>
          <a:xfrm>
            <a:off x="3710000" y="2026667"/>
            <a:ext cx="898888" cy="266667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txBody>
          <a:bodyPr wrap="square" lIns="48000" tIns="24000" rIns="48000" bIns="24000" rtlCol="0" anchor="ctr"/>
          <a:lstStyle/>
          <a:p>
            <a:pPr algn="ctr"/>
            <a:r>
              <a:rPr lang="en-US" sz="933" b="1" dirty="0">
                <a:solidFill>
                  <a:srgbClr val="FFFFFF"/>
                </a:solidFill>
              </a:rPr>
              <a:t>Style-level data</a:t>
            </a:r>
          </a:p>
        </p:txBody>
      </p:sp>
      <p:sp>
        <p:nvSpPr>
          <p:cNvPr id="148" name="Bar147"/>
          <p:cNvSpPr/>
          <p:nvPr/>
        </p:nvSpPr>
        <p:spPr>
          <a:xfrm>
            <a:off x="4635555" y="2026667"/>
            <a:ext cx="1744445" cy="266667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txBody>
          <a:bodyPr wrap="square" lIns="48000" tIns="24000" rIns="48000" bIns="24000" rtlCol="0" anchor="ctr"/>
          <a:lstStyle/>
          <a:p>
            <a:pPr algn="ctr"/>
            <a:r>
              <a:rPr lang="en-US" sz="1067" b="1" dirty="0">
                <a:solidFill>
                  <a:srgbClr val="FFFFFF"/>
                </a:solidFill>
              </a:rPr>
              <a:t>Brand Scorecard</a:t>
            </a:r>
          </a:p>
        </p:txBody>
      </p:sp>
      <p:sp>
        <p:nvSpPr>
          <p:cNvPr id="150" name="Bar149"/>
          <p:cNvSpPr/>
          <p:nvPr/>
        </p:nvSpPr>
        <p:spPr>
          <a:xfrm>
            <a:off x="6460000" y="2026667"/>
            <a:ext cx="5446667" cy="266667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txBody>
          <a:bodyPr wrap="square" lIns="48000" tIns="24000" rIns="48000" bIns="24000" rtlCol="0" anchor="ctr"/>
          <a:lstStyle/>
          <a:p>
            <a:pPr algn="ctr"/>
            <a:r>
              <a:rPr lang="en-US" sz="1067" b="1" dirty="0">
                <a:solidFill>
                  <a:srgbClr val="FFFFFF"/>
                </a:solidFill>
              </a:rPr>
              <a:t>Data Insights Portfolio | AI Summary</a:t>
            </a:r>
          </a:p>
        </p:txBody>
      </p:sp>
      <p:sp>
        <p:nvSpPr>
          <p:cNvPr id="152" name="Bar151"/>
          <p:cNvSpPr/>
          <p:nvPr/>
        </p:nvSpPr>
        <p:spPr>
          <a:xfrm>
            <a:off x="960000" y="2333333"/>
            <a:ext cx="4346667" cy="266667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txBody>
          <a:bodyPr wrap="square" lIns="48000" tIns="24000" rIns="48000" bIns="2400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</a:rPr>
              <a:t>Store Compliance – Minor Enhancements, Emp Eligibility &amp; Timekeeping</a:t>
            </a:r>
          </a:p>
        </p:txBody>
      </p:sp>
      <p:sp>
        <p:nvSpPr>
          <p:cNvPr id="154" name="Bar153"/>
          <p:cNvSpPr/>
          <p:nvPr/>
        </p:nvSpPr>
        <p:spPr>
          <a:xfrm>
            <a:off x="960001" y="3213333"/>
            <a:ext cx="5309167" cy="260000"/>
          </a:xfrm>
          <a:prstGeom prst="rect">
            <a:avLst/>
          </a:prstGeom>
          <a:solidFill>
            <a:srgbClr val="1FA9F2"/>
          </a:solidFill>
          <a:ln>
            <a:noFill/>
          </a:ln>
        </p:spPr>
        <p:txBody>
          <a:bodyPr wrap="square" lIns="48000" tIns="24000" rIns="48000" bIns="24000" rtlCol="0" anchor="ctr"/>
          <a:lstStyle/>
          <a:p>
            <a:pPr algn="ctr"/>
            <a:r>
              <a:rPr lang="en-US" sz="1067" b="1" dirty="0">
                <a:solidFill>
                  <a:srgbClr val="FFFFFF"/>
                </a:solidFill>
              </a:rPr>
              <a:t>NA - Launch to Fleet and Executives</a:t>
            </a:r>
          </a:p>
        </p:txBody>
      </p:sp>
      <p:sp>
        <p:nvSpPr>
          <p:cNvPr id="156" name="Bar155"/>
          <p:cNvSpPr/>
          <p:nvPr/>
        </p:nvSpPr>
        <p:spPr>
          <a:xfrm>
            <a:off x="6460000" y="3213333"/>
            <a:ext cx="5446667" cy="260000"/>
          </a:xfrm>
          <a:prstGeom prst="rect">
            <a:avLst/>
          </a:prstGeom>
          <a:solidFill>
            <a:srgbClr val="1FA9F2"/>
          </a:solidFill>
          <a:ln>
            <a:noFill/>
          </a:ln>
        </p:spPr>
        <p:txBody>
          <a:bodyPr wrap="square" lIns="48000" tIns="24000" rIns="48000" bIns="24000" rtlCol="0" anchor="ctr"/>
          <a:lstStyle/>
          <a:p>
            <a:pPr algn="ctr"/>
            <a:r>
              <a:rPr lang="en-US" sz="1067" b="1" dirty="0">
                <a:solidFill>
                  <a:srgbClr val="FFFFFF"/>
                </a:solidFill>
              </a:rPr>
              <a:t>Integrated One Platform Experience</a:t>
            </a:r>
          </a:p>
        </p:txBody>
      </p:sp>
      <p:sp>
        <p:nvSpPr>
          <p:cNvPr id="157" name="Star158"/>
          <p:cNvSpPr/>
          <p:nvPr/>
        </p:nvSpPr>
        <p:spPr>
          <a:xfrm>
            <a:off x="6069167" y="3196667"/>
            <a:ext cx="293333" cy="293333"/>
          </a:xfrm>
          <a:prstGeom prst="star5">
            <a:avLst/>
          </a:prstGeom>
          <a:solidFill>
            <a:srgbClr val="F59E0B"/>
          </a:solidFill>
          <a:ln w="6350">
            <a:solidFill>
              <a:srgbClr val="B45309"/>
            </a:solidFill>
          </a:ln>
        </p:spPr>
        <p:txBody>
          <a:bodyPr/>
          <a:lstStyle/>
          <a:p>
            <a:endParaRPr lang="en-US" sz="2400"/>
          </a:p>
        </p:txBody>
      </p:sp>
      <p:sp>
        <p:nvSpPr>
          <p:cNvPr id="160" name="Bar159"/>
          <p:cNvSpPr/>
          <p:nvPr/>
        </p:nvSpPr>
        <p:spPr>
          <a:xfrm>
            <a:off x="4508333" y="3510667"/>
            <a:ext cx="3850000" cy="260000"/>
          </a:xfrm>
          <a:prstGeom prst="rect">
            <a:avLst/>
          </a:prstGeom>
          <a:solidFill>
            <a:srgbClr val="1FA9F2"/>
          </a:solidFill>
          <a:ln>
            <a:noFill/>
          </a:ln>
        </p:spPr>
        <p:txBody>
          <a:bodyPr wrap="square" lIns="48000" tIns="24000" rIns="48000" bIns="24000" rtlCol="0" anchor="ctr"/>
          <a:lstStyle/>
          <a:p>
            <a:pPr algn="ctr"/>
            <a:r>
              <a:rPr lang="en-US" sz="1067" b="1" dirty="0">
                <a:solidFill>
                  <a:srgbClr val="FFFFFF"/>
                </a:solidFill>
              </a:rPr>
              <a:t>GDP sources</a:t>
            </a:r>
          </a:p>
        </p:txBody>
      </p:sp>
      <p:sp>
        <p:nvSpPr>
          <p:cNvPr id="162" name="Bar161"/>
          <p:cNvSpPr/>
          <p:nvPr/>
        </p:nvSpPr>
        <p:spPr>
          <a:xfrm>
            <a:off x="5306665" y="3807999"/>
            <a:ext cx="3850001" cy="260001"/>
          </a:xfrm>
          <a:prstGeom prst="rect">
            <a:avLst/>
          </a:prstGeom>
          <a:solidFill>
            <a:srgbClr val="1FA9F2"/>
          </a:solidFill>
          <a:ln>
            <a:noFill/>
          </a:ln>
        </p:spPr>
        <p:txBody>
          <a:bodyPr wrap="square" lIns="48000" tIns="24000" rIns="48000" bIns="24000" rtlCol="0" anchor="ctr"/>
          <a:lstStyle/>
          <a:p>
            <a:pPr algn="ctr"/>
            <a:r>
              <a:rPr lang="en-US" sz="1067" b="1" dirty="0">
                <a:solidFill>
                  <a:srgbClr val="FFFFFF"/>
                </a:solidFill>
              </a:rPr>
              <a:t>OMNI, WFM, Returns, NPS</a:t>
            </a:r>
          </a:p>
        </p:txBody>
      </p:sp>
      <p:sp>
        <p:nvSpPr>
          <p:cNvPr id="164" name="Bar163"/>
          <p:cNvSpPr/>
          <p:nvPr/>
        </p:nvSpPr>
        <p:spPr>
          <a:xfrm>
            <a:off x="2479167" y="5107680"/>
            <a:ext cx="2612500" cy="260000"/>
          </a:xfrm>
          <a:prstGeom prst="rect">
            <a:avLst/>
          </a:prstGeom>
          <a:solidFill>
            <a:srgbClr val="1FA9F2"/>
          </a:solidFill>
          <a:ln>
            <a:noFill/>
          </a:ln>
        </p:spPr>
        <p:txBody>
          <a:bodyPr wrap="square" lIns="48000" tIns="24000" rIns="48000" bIns="24000" rtlCol="0" anchor="ctr"/>
          <a:lstStyle/>
          <a:p>
            <a:pPr algn="ctr"/>
            <a:r>
              <a:rPr lang="en-US" sz="1067" b="1" dirty="0">
                <a:solidFill>
                  <a:srgbClr val="FFFFFF"/>
                </a:solidFill>
              </a:rPr>
              <a:t>Japan Data Integration</a:t>
            </a:r>
          </a:p>
        </p:txBody>
      </p:sp>
      <p:sp>
        <p:nvSpPr>
          <p:cNvPr id="166" name="Bar165"/>
          <p:cNvSpPr/>
          <p:nvPr/>
        </p:nvSpPr>
        <p:spPr>
          <a:xfrm>
            <a:off x="4095833" y="4398987"/>
            <a:ext cx="4675000" cy="260000"/>
          </a:xfrm>
          <a:prstGeom prst="rect">
            <a:avLst/>
          </a:prstGeom>
          <a:solidFill>
            <a:srgbClr val="1FA9F2"/>
          </a:solidFill>
          <a:ln>
            <a:noFill/>
          </a:ln>
        </p:spPr>
        <p:txBody>
          <a:bodyPr wrap="square" lIns="48000" tIns="24000" rIns="48000" bIns="24000" rtlCol="0" anchor="ctr"/>
          <a:lstStyle/>
          <a:p>
            <a:pPr algn="ctr"/>
            <a:r>
              <a:rPr lang="en-US" sz="1067" b="1" dirty="0">
                <a:solidFill>
                  <a:srgbClr val="FFFFFF"/>
                </a:solidFill>
              </a:rPr>
              <a:t>AI Chatbot Integration</a:t>
            </a:r>
          </a:p>
        </p:txBody>
      </p:sp>
      <p:sp>
        <p:nvSpPr>
          <p:cNvPr id="181" name="Text182"/>
          <p:cNvSpPr/>
          <p:nvPr/>
        </p:nvSpPr>
        <p:spPr>
          <a:xfrm>
            <a:off x="1000000" y="6640000"/>
            <a:ext cx="2000000" cy="2933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r>
              <a:rPr lang="en-US" sz="1067" dirty="0">
                <a:solidFill>
                  <a:srgbClr val="111827"/>
                </a:solidFill>
              </a:rPr>
              <a:t>3/9 – HCLTech starts...</a:t>
            </a:r>
          </a:p>
        </p:txBody>
      </p:sp>
      <p:sp>
        <p:nvSpPr>
          <p:cNvPr id="183" name="Star184"/>
          <p:cNvSpPr/>
          <p:nvPr/>
        </p:nvSpPr>
        <p:spPr>
          <a:xfrm>
            <a:off x="8166667" y="6553333"/>
            <a:ext cx="200000" cy="200000"/>
          </a:xfrm>
          <a:prstGeom prst="star5">
            <a:avLst/>
          </a:prstGeom>
          <a:solidFill>
            <a:srgbClr val="F59E0B"/>
          </a:solidFill>
          <a:ln w="6350">
            <a:solidFill>
              <a:srgbClr val="B45309"/>
            </a:solidFill>
          </a:ln>
        </p:spPr>
        <p:txBody>
          <a:bodyPr/>
          <a:lstStyle/>
          <a:p>
            <a:endParaRPr lang="en-US" sz="2400"/>
          </a:p>
        </p:txBody>
      </p:sp>
      <p:sp>
        <p:nvSpPr>
          <p:cNvPr id="185" name="Text186"/>
          <p:cNvSpPr/>
          <p:nvPr/>
        </p:nvSpPr>
        <p:spPr>
          <a:xfrm>
            <a:off x="8533333" y="6613334"/>
            <a:ext cx="1600000" cy="2933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r>
              <a:rPr lang="en-US" sz="1067" dirty="0">
                <a:solidFill>
                  <a:srgbClr val="111827"/>
                </a:solidFill>
              </a:rPr>
              <a:t>Initial Test Release</a:t>
            </a:r>
          </a:p>
        </p:txBody>
      </p:sp>
      <p:sp>
        <p:nvSpPr>
          <p:cNvPr id="187" name="Star188"/>
          <p:cNvSpPr/>
          <p:nvPr/>
        </p:nvSpPr>
        <p:spPr>
          <a:xfrm>
            <a:off x="10100000" y="6553333"/>
            <a:ext cx="200000" cy="200000"/>
          </a:xfrm>
          <a:prstGeom prst="star5">
            <a:avLst/>
          </a:prstGeom>
          <a:solidFill>
            <a:srgbClr val="10B981"/>
          </a:solidFill>
          <a:ln w="6350">
            <a:solidFill>
              <a:srgbClr val="B45309"/>
            </a:solidFill>
          </a:ln>
        </p:spPr>
        <p:txBody>
          <a:bodyPr/>
          <a:lstStyle/>
          <a:p>
            <a:endParaRPr lang="en-US" sz="2400"/>
          </a:p>
        </p:txBody>
      </p:sp>
      <p:sp>
        <p:nvSpPr>
          <p:cNvPr id="189" name="Text190"/>
          <p:cNvSpPr/>
          <p:nvPr/>
        </p:nvSpPr>
        <p:spPr>
          <a:xfrm>
            <a:off x="10466667" y="6613334"/>
            <a:ext cx="1466667" cy="2933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r>
              <a:rPr lang="en-US" sz="1067" dirty="0">
                <a:solidFill>
                  <a:srgbClr val="111827"/>
                </a:solidFill>
              </a:rPr>
              <a:t>GA Release</a:t>
            </a:r>
          </a:p>
        </p:txBody>
      </p:sp>
      <p:sp>
        <p:nvSpPr>
          <p:cNvPr id="2" name="Bar163">
            <a:extLst>
              <a:ext uri="{FF2B5EF4-FFF2-40B4-BE49-F238E27FC236}">
                <a16:creationId xmlns:a16="http://schemas.microsoft.com/office/drawing/2014/main" id="{8A5C3CF8-4493-7319-249D-2BBA8FD3C606}"/>
              </a:ext>
            </a:extLst>
          </p:cNvPr>
          <p:cNvSpPr/>
          <p:nvPr/>
        </p:nvSpPr>
        <p:spPr>
          <a:xfrm>
            <a:off x="6502083" y="4737040"/>
            <a:ext cx="2612500" cy="260000"/>
          </a:xfrm>
          <a:prstGeom prst="rect">
            <a:avLst/>
          </a:prstGeom>
          <a:solidFill>
            <a:srgbClr val="1FA9F2"/>
          </a:solidFill>
          <a:ln>
            <a:noFill/>
          </a:ln>
        </p:spPr>
        <p:txBody>
          <a:bodyPr wrap="square" lIns="48000" tIns="24000" rIns="48000" bIns="24000" rtlCol="0" anchor="ctr"/>
          <a:lstStyle/>
          <a:p>
            <a:pPr algn="ctr"/>
            <a:r>
              <a:rPr lang="en-US" sz="1067" b="1" dirty="0">
                <a:solidFill>
                  <a:srgbClr val="FFFFFF"/>
                </a:solidFill>
              </a:rPr>
              <a:t>Peak available in MI360</a:t>
            </a:r>
          </a:p>
        </p:txBody>
      </p:sp>
      <p:sp>
        <p:nvSpPr>
          <p:cNvPr id="3" name="Bar153">
            <a:extLst>
              <a:ext uri="{FF2B5EF4-FFF2-40B4-BE49-F238E27FC236}">
                <a16:creationId xmlns:a16="http://schemas.microsoft.com/office/drawing/2014/main" id="{9FC22FE6-0605-07EA-D951-5C41F83C2E87}"/>
              </a:ext>
            </a:extLst>
          </p:cNvPr>
          <p:cNvSpPr/>
          <p:nvPr/>
        </p:nvSpPr>
        <p:spPr>
          <a:xfrm>
            <a:off x="2437084" y="5444667"/>
            <a:ext cx="2654584" cy="260000"/>
          </a:xfrm>
          <a:prstGeom prst="rect">
            <a:avLst/>
          </a:prstGeom>
          <a:solidFill>
            <a:srgbClr val="1FA9F2"/>
          </a:solidFill>
          <a:ln>
            <a:noFill/>
          </a:ln>
        </p:spPr>
        <p:txBody>
          <a:bodyPr wrap="square" lIns="48000" tIns="24000" rIns="48000" bIns="24000" rtlCol="0" anchor="ctr"/>
          <a:lstStyle/>
          <a:p>
            <a:pPr algn="ctr"/>
            <a:r>
              <a:rPr lang="en-US" sz="1067" b="1" dirty="0">
                <a:solidFill>
                  <a:srgbClr val="FFFFFF"/>
                </a:solidFill>
              </a:rPr>
              <a:t>Japan - Launch to Fleet and Executives</a:t>
            </a:r>
          </a:p>
        </p:txBody>
      </p:sp>
      <p:sp>
        <p:nvSpPr>
          <p:cNvPr id="4" name="Bar161">
            <a:extLst>
              <a:ext uri="{FF2B5EF4-FFF2-40B4-BE49-F238E27FC236}">
                <a16:creationId xmlns:a16="http://schemas.microsoft.com/office/drawing/2014/main" id="{056C1EF9-A76F-0134-5E78-1C42547C6089}"/>
              </a:ext>
            </a:extLst>
          </p:cNvPr>
          <p:cNvSpPr/>
          <p:nvPr/>
        </p:nvSpPr>
        <p:spPr>
          <a:xfrm>
            <a:off x="5306665" y="4101653"/>
            <a:ext cx="6599995" cy="265015"/>
          </a:xfrm>
          <a:prstGeom prst="rect">
            <a:avLst/>
          </a:prstGeom>
          <a:solidFill>
            <a:srgbClr val="1FA9F2"/>
          </a:solidFill>
          <a:ln>
            <a:noFill/>
          </a:ln>
        </p:spPr>
        <p:txBody>
          <a:bodyPr wrap="square" lIns="48000" tIns="24000" rIns="48000" bIns="24000" rtlCol="0" anchor="ctr"/>
          <a:lstStyle/>
          <a:p>
            <a:pPr algn="ctr"/>
            <a:r>
              <a:rPr lang="en-US" sz="1067" b="1" dirty="0">
                <a:solidFill>
                  <a:srgbClr val="FFFFFF"/>
                </a:solidFill>
              </a:rPr>
              <a:t>RFID, VIBE, CRAVE</a:t>
            </a:r>
          </a:p>
        </p:txBody>
      </p:sp>
      <p:sp>
        <p:nvSpPr>
          <p:cNvPr id="5" name="Bar161">
            <a:extLst>
              <a:ext uri="{FF2B5EF4-FFF2-40B4-BE49-F238E27FC236}">
                <a16:creationId xmlns:a16="http://schemas.microsoft.com/office/drawing/2014/main" id="{2D065B11-530F-E6EA-1BA5-86D17332F5CF}"/>
              </a:ext>
            </a:extLst>
          </p:cNvPr>
          <p:cNvSpPr/>
          <p:nvPr/>
        </p:nvSpPr>
        <p:spPr>
          <a:xfrm>
            <a:off x="4756662" y="5742001"/>
            <a:ext cx="1650004" cy="411359"/>
          </a:xfrm>
          <a:prstGeom prst="rect">
            <a:avLst/>
          </a:prstGeom>
          <a:solidFill>
            <a:srgbClr val="1FA9F2"/>
          </a:solidFill>
          <a:ln>
            <a:noFill/>
          </a:ln>
        </p:spPr>
        <p:txBody>
          <a:bodyPr wrap="square" lIns="48000" tIns="24000" rIns="48000" bIns="24000" rtlCol="0" anchor="ctr"/>
          <a:lstStyle/>
          <a:p>
            <a:pPr algn="ctr"/>
            <a:r>
              <a:rPr lang="en-US" sz="1067" b="1" dirty="0">
                <a:solidFill>
                  <a:srgbClr val="FFFFFF"/>
                </a:solidFill>
              </a:rPr>
              <a:t>EU and Africa, Middle East, Asia</a:t>
            </a:r>
          </a:p>
        </p:txBody>
      </p:sp>
      <p:sp>
        <p:nvSpPr>
          <p:cNvPr id="6" name="Bar151">
            <a:extLst>
              <a:ext uri="{FF2B5EF4-FFF2-40B4-BE49-F238E27FC236}">
                <a16:creationId xmlns:a16="http://schemas.microsoft.com/office/drawing/2014/main" id="{322D5253-4F6F-B76A-BBED-0FACCFDFBFBD}"/>
              </a:ext>
            </a:extLst>
          </p:cNvPr>
          <p:cNvSpPr/>
          <p:nvPr/>
        </p:nvSpPr>
        <p:spPr>
          <a:xfrm>
            <a:off x="4095833" y="2632318"/>
            <a:ext cx="2308114" cy="289335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txBody>
          <a:bodyPr wrap="square" lIns="48000" tIns="24000" rIns="48000" bIns="2400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</a:rPr>
              <a:t>Loyalty enhancements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26720" y="304800"/>
            <a:ext cx="1133856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733" b="1" dirty="0">
                <a:solidFill>
                  <a:srgbClr val="111827"/>
                </a:solidFill>
              </a:rPr>
              <a:t>FY26 at a glance</a:t>
            </a:r>
            <a:endParaRPr lang="en-US" sz="3733" dirty="0"/>
          </a:p>
        </p:txBody>
      </p:sp>
      <p:sp>
        <p:nvSpPr>
          <p:cNvPr id="3" name="Subtitle"/>
          <p:cNvSpPr/>
          <p:nvPr/>
        </p:nvSpPr>
        <p:spPr>
          <a:xfrm>
            <a:off x="426720" y="933333"/>
            <a:ext cx="11338560" cy="4266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i="1" dirty="0">
                <a:solidFill>
                  <a:srgbClr val="6B7280"/>
                </a:solidFill>
              </a:rPr>
              <a:t>What the Stores Intelligence roadmap delivers in numbers</a:t>
            </a:r>
            <a:endParaRPr lang="en-US" sz="1867" dirty="0"/>
          </a:p>
        </p:txBody>
      </p:sp>
      <p:sp>
        <p:nvSpPr>
          <p:cNvPr id="10" name="Card1"/>
          <p:cNvSpPr/>
          <p:nvPr/>
        </p:nvSpPr>
        <p:spPr>
          <a:xfrm>
            <a:off x="426720" y="1666667"/>
            <a:ext cx="2733333" cy="2466667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Card1Top"/>
          <p:cNvSpPr/>
          <p:nvPr/>
        </p:nvSpPr>
        <p:spPr>
          <a:xfrm>
            <a:off x="426720" y="1666667"/>
            <a:ext cx="2733333" cy="66667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Stat1"/>
          <p:cNvSpPr/>
          <p:nvPr/>
        </p:nvSpPr>
        <p:spPr>
          <a:xfrm>
            <a:off x="506667" y="1866667"/>
            <a:ext cx="2533333" cy="1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200" b="1" dirty="0">
                <a:solidFill>
                  <a:srgbClr val="1976D2"/>
                </a:solidFill>
              </a:rPr>
              <a:t>15</a:t>
            </a:r>
            <a:r>
              <a:rPr lang="en-US" sz="4267" b="1" dirty="0">
                <a:solidFill>
                  <a:srgbClr val="1976D2"/>
                </a:solidFill>
              </a:rPr>
              <a:t>min</a:t>
            </a:r>
            <a:endParaRPr lang="en-US" sz="7200" dirty="0"/>
          </a:p>
        </p:txBody>
      </p:sp>
      <p:sp>
        <p:nvSpPr>
          <p:cNvPr id="13" name="Label1"/>
          <p:cNvSpPr/>
          <p:nvPr/>
        </p:nvSpPr>
        <p:spPr>
          <a:xfrm>
            <a:off x="506667" y="3133334"/>
            <a:ext cx="2533333" cy="933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solidFill>
                  <a:srgbClr val="111827"/>
                </a:solidFill>
              </a:rPr>
              <a:t>Reporting cadence</a:t>
            </a:r>
            <a:endParaRPr lang="en-US" sz="1600" dirty="0"/>
          </a:p>
          <a:p>
            <a:r>
              <a:rPr lang="en-US" sz="1200" dirty="0">
                <a:solidFill>
                  <a:srgbClr val="6B7280"/>
                </a:solidFill>
              </a:rPr>
              <a:t>From day-level today to 15-minute by Q3 - intraday store ops decisions become possible</a:t>
            </a:r>
            <a:endParaRPr lang="en-US" sz="1200" dirty="0"/>
          </a:p>
        </p:txBody>
      </p:sp>
      <p:sp>
        <p:nvSpPr>
          <p:cNvPr id="20" name="Card2"/>
          <p:cNvSpPr/>
          <p:nvPr/>
        </p:nvSpPr>
        <p:spPr>
          <a:xfrm>
            <a:off x="3293387" y="1666667"/>
            <a:ext cx="2733333" cy="2466667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/>
          <a:lstStyle/>
          <a:p>
            <a:endParaRPr lang="en-US" sz="2400" dirty="0"/>
          </a:p>
        </p:txBody>
      </p:sp>
      <p:sp>
        <p:nvSpPr>
          <p:cNvPr id="21" name="Card2Top"/>
          <p:cNvSpPr/>
          <p:nvPr/>
        </p:nvSpPr>
        <p:spPr>
          <a:xfrm>
            <a:off x="3293387" y="1666667"/>
            <a:ext cx="2733333" cy="66667"/>
          </a:xfrm>
          <a:prstGeom prst="rect">
            <a:avLst/>
          </a:prstGeom>
          <a:solidFill>
            <a:srgbClr val="1FA9F2"/>
          </a:solidFill>
          <a:ln>
            <a:noFill/>
          </a:ln>
        </p:spPr>
        <p:txBody>
          <a:bodyPr/>
          <a:lstStyle/>
          <a:p>
            <a:endParaRPr lang="en-US" sz="2400"/>
          </a:p>
        </p:txBody>
      </p:sp>
      <p:sp>
        <p:nvSpPr>
          <p:cNvPr id="22" name="Stat2"/>
          <p:cNvSpPr/>
          <p:nvPr/>
        </p:nvSpPr>
        <p:spPr>
          <a:xfrm>
            <a:off x="3373334" y="1866667"/>
            <a:ext cx="2533333" cy="1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7200" dirty="0"/>
          </a:p>
        </p:txBody>
      </p:sp>
      <p:sp>
        <p:nvSpPr>
          <p:cNvPr id="23" name="Label2"/>
          <p:cNvSpPr/>
          <p:nvPr/>
        </p:nvSpPr>
        <p:spPr>
          <a:xfrm>
            <a:off x="3373334" y="3133334"/>
            <a:ext cx="2533333" cy="933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solidFill>
                  <a:srgbClr val="111827"/>
                </a:solidFill>
              </a:rPr>
              <a:t>Audience</a:t>
            </a:r>
            <a:endParaRPr lang="en-US" sz="1600" dirty="0"/>
          </a:p>
          <a:p>
            <a:r>
              <a:rPr lang="en-US" sz="1200" dirty="0">
                <a:solidFill>
                  <a:srgbClr val="6B7280"/>
                </a:solidFill>
              </a:rPr>
              <a:t>HQ, Stores </a:t>
            </a:r>
            <a:endParaRPr lang="en-US" sz="1200" dirty="0"/>
          </a:p>
        </p:txBody>
      </p:sp>
      <p:sp>
        <p:nvSpPr>
          <p:cNvPr id="30" name="Card3"/>
          <p:cNvSpPr/>
          <p:nvPr/>
        </p:nvSpPr>
        <p:spPr>
          <a:xfrm>
            <a:off x="6160054" y="1666667"/>
            <a:ext cx="2733333" cy="2466667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/>
          <a:lstStyle/>
          <a:p>
            <a:endParaRPr lang="en-US" sz="2400"/>
          </a:p>
        </p:txBody>
      </p:sp>
      <p:sp>
        <p:nvSpPr>
          <p:cNvPr id="31" name="Card3Top"/>
          <p:cNvSpPr/>
          <p:nvPr/>
        </p:nvSpPr>
        <p:spPr>
          <a:xfrm>
            <a:off x="6160054" y="1666667"/>
            <a:ext cx="2733333" cy="66667"/>
          </a:xfrm>
          <a:prstGeom prst="rect">
            <a:avLst/>
          </a:prstGeom>
          <a:solidFill>
            <a:srgbClr val="7B3FF2"/>
          </a:solidFill>
          <a:ln>
            <a:noFill/>
          </a:ln>
        </p:spPr>
        <p:txBody>
          <a:bodyPr/>
          <a:lstStyle/>
          <a:p>
            <a:endParaRPr lang="en-US" sz="2400"/>
          </a:p>
        </p:txBody>
      </p:sp>
      <p:sp>
        <p:nvSpPr>
          <p:cNvPr id="32" name="Stat3"/>
          <p:cNvSpPr/>
          <p:nvPr/>
        </p:nvSpPr>
        <p:spPr>
          <a:xfrm>
            <a:off x="6240000" y="1866667"/>
            <a:ext cx="2533333" cy="1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200" b="1" dirty="0">
                <a:solidFill>
                  <a:srgbClr val="7B3FF2"/>
                </a:solidFill>
              </a:rPr>
              <a:t>3</a:t>
            </a:r>
            <a:r>
              <a:rPr lang="en-US" sz="4267" b="1" dirty="0">
                <a:solidFill>
                  <a:srgbClr val="7B3FF2"/>
                </a:solidFill>
              </a:rPr>
              <a:t>-tier</a:t>
            </a:r>
            <a:endParaRPr lang="en-US" sz="7200" dirty="0"/>
          </a:p>
        </p:txBody>
      </p:sp>
      <p:sp>
        <p:nvSpPr>
          <p:cNvPr id="33" name="Label3"/>
          <p:cNvSpPr/>
          <p:nvPr/>
        </p:nvSpPr>
        <p:spPr>
          <a:xfrm>
            <a:off x="6240000" y="3133334"/>
            <a:ext cx="2533333" cy="933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solidFill>
                  <a:srgbClr val="111827"/>
                </a:solidFill>
              </a:rPr>
              <a:t>Governance model</a:t>
            </a:r>
            <a:endParaRPr lang="en-US" sz="1600" dirty="0"/>
          </a:p>
          <a:p>
            <a:r>
              <a:rPr lang="en-US" sz="1200" dirty="0">
                <a:solidFill>
                  <a:srgbClr val="6B7280"/>
                </a:solidFill>
              </a:rPr>
              <a:t>Three-tier architecture plus a standing committee - intake, prioritization, and sunset in one operating model</a:t>
            </a:r>
            <a:endParaRPr lang="en-US" sz="1200" dirty="0"/>
          </a:p>
        </p:txBody>
      </p:sp>
      <p:sp>
        <p:nvSpPr>
          <p:cNvPr id="40" name="Card4"/>
          <p:cNvSpPr/>
          <p:nvPr/>
        </p:nvSpPr>
        <p:spPr>
          <a:xfrm>
            <a:off x="9026720" y="1666667"/>
            <a:ext cx="2733333" cy="2466667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/>
          <a:lstStyle/>
          <a:p>
            <a:endParaRPr lang="en-US" sz="2400"/>
          </a:p>
        </p:txBody>
      </p:sp>
      <p:sp>
        <p:nvSpPr>
          <p:cNvPr id="41" name="Card4Top"/>
          <p:cNvSpPr/>
          <p:nvPr/>
        </p:nvSpPr>
        <p:spPr>
          <a:xfrm>
            <a:off x="9026720" y="1666667"/>
            <a:ext cx="2733333" cy="66667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/>
          <a:lstStyle/>
          <a:p>
            <a:endParaRPr lang="en-US" sz="2400"/>
          </a:p>
        </p:txBody>
      </p:sp>
      <p:sp>
        <p:nvSpPr>
          <p:cNvPr id="42" name="Stat4"/>
          <p:cNvSpPr/>
          <p:nvPr/>
        </p:nvSpPr>
        <p:spPr>
          <a:xfrm>
            <a:off x="9106667" y="1866667"/>
            <a:ext cx="2533333" cy="1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200" b="1" dirty="0">
                <a:solidFill>
                  <a:srgbClr val="EA580C"/>
                </a:solidFill>
              </a:rPr>
              <a:t>3</a:t>
            </a:r>
            <a:endParaRPr lang="en-US" sz="7200" dirty="0"/>
          </a:p>
        </p:txBody>
      </p:sp>
      <p:sp>
        <p:nvSpPr>
          <p:cNvPr id="43" name="Label4"/>
          <p:cNvSpPr/>
          <p:nvPr/>
        </p:nvSpPr>
        <p:spPr>
          <a:xfrm>
            <a:off x="9106667" y="3133334"/>
            <a:ext cx="2533333" cy="933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solidFill>
                  <a:srgbClr val="111827"/>
                </a:solidFill>
              </a:rPr>
              <a:t>AI capabilities shipping</a:t>
            </a:r>
            <a:endParaRPr lang="en-US" sz="1600" dirty="0"/>
          </a:p>
          <a:p>
            <a:r>
              <a:rPr lang="en-US" sz="1200" dirty="0">
                <a:solidFill>
                  <a:srgbClr val="6B7280"/>
                </a:solidFill>
              </a:rPr>
              <a:t>AI Forecasting (Q1), AI Chatbot (Q2–Q3), and AI Summary in Data Insights Portfolio (Q3–Q4)</a:t>
            </a:r>
            <a:endParaRPr lang="en-US" sz="1200" dirty="0"/>
          </a:p>
        </p:txBody>
      </p:sp>
      <p:sp>
        <p:nvSpPr>
          <p:cNvPr id="50" name="StripBg"/>
          <p:cNvSpPr/>
          <p:nvPr/>
        </p:nvSpPr>
        <p:spPr>
          <a:xfrm>
            <a:off x="426720" y="4506667"/>
            <a:ext cx="11338560" cy="1866667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>
            <a:endParaRPr lang="en-US" sz="2400"/>
          </a:p>
        </p:txBody>
      </p:sp>
      <p:sp>
        <p:nvSpPr>
          <p:cNvPr id="51" name="StripLabel"/>
          <p:cNvSpPr/>
          <p:nvPr/>
        </p:nvSpPr>
        <p:spPr>
          <a:xfrm>
            <a:off x="666667" y="4666667"/>
            <a:ext cx="10666667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33" b="1" kern="0" spc="400" dirty="0">
                <a:solidFill>
                  <a:srgbClr val="EA580C"/>
                </a:solidFill>
              </a:rPr>
              <a:t>THE THROUGH-LINE</a:t>
            </a:r>
            <a:endParaRPr lang="en-US" sz="1333" dirty="0"/>
          </a:p>
        </p:txBody>
      </p:sp>
      <p:sp>
        <p:nvSpPr>
          <p:cNvPr id="52" name="StripHeadline"/>
          <p:cNvSpPr/>
          <p:nvPr/>
        </p:nvSpPr>
        <p:spPr>
          <a:xfrm>
            <a:off x="666667" y="5040000"/>
            <a:ext cx="10666667" cy="666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667" b="1" dirty="0">
                <a:solidFill>
                  <a:srgbClr val="FFFFFF"/>
                </a:solidFill>
              </a:rPr>
              <a:t>FY26 turns Stores Intelligence from a reporting function into a decision engine.</a:t>
            </a:r>
            <a:endParaRPr lang="en-US" sz="2667" dirty="0"/>
          </a:p>
        </p:txBody>
      </p:sp>
      <p:sp>
        <p:nvSpPr>
          <p:cNvPr id="53" name="StripBody"/>
          <p:cNvSpPr/>
          <p:nvPr/>
        </p:nvSpPr>
        <p:spPr>
          <a:xfrm>
            <a:off x="666667" y="5773334"/>
            <a:ext cx="10666667" cy="533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>
                <a:solidFill>
                  <a:srgbClr val="9CA3AF"/>
                </a:solidFill>
              </a:rPr>
              <a:t>Faster cadence, unified data, governed intake, and AI woven through every quarter - with sunsetting in Q4 to keep the surface area honest.</a:t>
            </a:r>
            <a:endParaRPr lang="en-US" sz="1600" dirty="0"/>
          </a:p>
        </p:txBody>
      </p:sp>
      <p:sp>
        <p:nvSpPr>
          <p:cNvPr id="99" name="PageNum"/>
          <p:cNvSpPr/>
          <p:nvPr/>
        </p:nvSpPr>
        <p:spPr>
          <a:xfrm>
            <a:off x="11466667" y="6533333"/>
            <a:ext cx="533333" cy="266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dirty="0">
                <a:solidFill>
                  <a:srgbClr val="9CA3AF"/>
                </a:solidFill>
              </a:rPr>
              <a:t>29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26720" y="304800"/>
            <a:ext cx="1133856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733" b="1" dirty="0">
                <a:solidFill>
                  <a:srgbClr val="111827"/>
                </a:solidFill>
              </a:rPr>
              <a:t>What leadership gets, quarter by quarter</a:t>
            </a:r>
            <a:endParaRPr lang="en-US" sz="3733" dirty="0"/>
          </a:p>
        </p:txBody>
      </p:sp>
      <p:sp>
        <p:nvSpPr>
          <p:cNvPr id="3" name="Subtitle"/>
          <p:cNvSpPr/>
          <p:nvPr/>
        </p:nvSpPr>
        <p:spPr>
          <a:xfrm>
            <a:off x="426720" y="933333"/>
            <a:ext cx="11338560" cy="4266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i="1" dirty="0">
                <a:solidFill>
                  <a:srgbClr val="6B7280"/>
                </a:solidFill>
              </a:rPr>
              <a:t>The roadmap translated out of bars and into outcomes</a:t>
            </a:r>
            <a:endParaRPr lang="en-US" sz="1867" dirty="0"/>
          </a:p>
        </p:txBody>
      </p:sp>
      <p:sp>
        <p:nvSpPr>
          <p:cNvPr id="100" name="QCard0"/>
          <p:cNvSpPr/>
          <p:nvPr/>
        </p:nvSpPr>
        <p:spPr>
          <a:xfrm>
            <a:off x="426720" y="1573333"/>
            <a:ext cx="2754640" cy="4666667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</p:spPr>
        <p:txBody>
          <a:bodyPr/>
          <a:lstStyle/>
          <a:p>
            <a:endParaRPr lang="en-US" sz="2400"/>
          </a:p>
        </p:txBody>
      </p:sp>
      <p:sp>
        <p:nvSpPr>
          <p:cNvPr id="101" name="QTop0"/>
          <p:cNvSpPr/>
          <p:nvPr/>
        </p:nvSpPr>
        <p:spPr>
          <a:xfrm>
            <a:off x="426720" y="1573333"/>
            <a:ext cx="2754640" cy="106667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txBody>
          <a:bodyPr/>
          <a:lstStyle/>
          <a:p>
            <a:endParaRPr lang="en-US" sz="2400"/>
          </a:p>
        </p:txBody>
      </p:sp>
      <p:sp>
        <p:nvSpPr>
          <p:cNvPr id="102" name="QLabel0"/>
          <p:cNvSpPr/>
          <p:nvPr/>
        </p:nvSpPr>
        <p:spPr>
          <a:xfrm>
            <a:off x="613387" y="1840000"/>
            <a:ext cx="2381307" cy="373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67" b="1" kern="0" spc="267" dirty="0">
                <a:solidFill>
                  <a:srgbClr val="1976D2"/>
                </a:solidFill>
              </a:rPr>
              <a:t>Q1 2026</a:t>
            </a:r>
            <a:endParaRPr lang="en-US" sz="1467" dirty="0"/>
          </a:p>
        </p:txBody>
      </p:sp>
      <p:sp>
        <p:nvSpPr>
          <p:cNvPr id="103" name="QHead0"/>
          <p:cNvSpPr/>
          <p:nvPr/>
        </p:nvSpPr>
        <p:spPr>
          <a:xfrm>
            <a:off x="613387" y="2266667"/>
            <a:ext cx="2381307" cy="933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267" b="1" dirty="0">
                <a:solidFill>
                  <a:srgbClr val="111827"/>
                </a:solidFill>
              </a:rPr>
              <a:t>Foundation in place</a:t>
            </a:r>
            <a:endParaRPr lang="en-US" sz="2267" dirty="0"/>
          </a:p>
        </p:txBody>
      </p:sp>
      <p:cxnSp>
        <p:nvCxnSpPr>
          <p:cNvPr id="104" name="QDiv0"/>
          <p:cNvCxnSpPr/>
          <p:nvPr/>
        </p:nvCxnSpPr>
        <p:spPr>
          <a:xfrm>
            <a:off x="613387" y="3306667"/>
            <a:ext cx="2381307" cy="0"/>
          </a:xfrm>
          <a:prstGeom prst="line">
            <a:avLst/>
          </a:prstGeom>
          <a:ln w="6350">
            <a:solidFill>
              <a:srgbClr val="E5E7EB"/>
            </a:solidFill>
          </a:ln>
        </p:spPr>
      </p:cxnSp>
      <p:sp>
        <p:nvSpPr>
          <p:cNvPr id="105" name="QBullet0_0"/>
          <p:cNvSpPr/>
          <p:nvPr/>
        </p:nvSpPr>
        <p:spPr>
          <a:xfrm>
            <a:off x="613387" y="3440000"/>
            <a:ext cx="2381307" cy="826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39994" indent="-239994">
              <a:buFont typeface="Arial"/>
              <a:buChar char="•"/>
            </a:pPr>
            <a:r>
              <a:rPr lang="en-US" sz="1333" dirty="0">
                <a:solidFill>
                  <a:srgbClr val="374151"/>
                </a:solidFill>
              </a:rPr>
              <a:t>Day-level store and product performance, peak coverage every day</a:t>
            </a:r>
            <a:endParaRPr lang="en-US" sz="1333" dirty="0"/>
          </a:p>
        </p:txBody>
      </p:sp>
      <p:sp>
        <p:nvSpPr>
          <p:cNvPr id="106" name="QBullet0_1"/>
          <p:cNvSpPr/>
          <p:nvPr/>
        </p:nvSpPr>
        <p:spPr>
          <a:xfrm>
            <a:off x="613387" y="4320000"/>
            <a:ext cx="2381307" cy="826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39994" indent="-239994">
              <a:buFont typeface="Arial"/>
              <a:buChar char="•"/>
            </a:pPr>
            <a:r>
              <a:rPr lang="en-US" sz="1333" dirty="0">
                <a:solidFill>
                  <a:srgbClr val="374151"/>
                </a:solidFill>
              </a:rPr>
              <a:t>WFM loyalty and AI Forecasting go live for Stores</a:t>
            </a:r>
            <a:endParaRPr lang="en-US" sz="1333" dirty="0"/>
          </a:p>
        </p:txBody>
      </p:sp>
      <p:sp>
        <p:nvSpPr>
          <p:cNvPr id="107" name="QBullet0_2"/>
          <p:cNvSpPr/>
          <p:nvPr/>
        </p:nvSpPr>
        <p:spPr>
          <a:xfrm>
            <a:off x="613387" y="5200000"/>
            <a:ext cx="2381307" cy="826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39994" indent="-239994">
              <a:buFont typeface="Arial"/>
              <a:buChar char="•"/>
            </a:pPr>
            <a:r>
              <a:rPr lang="en-US" sz="1333" dirty="0">
                <a:solidFill>
                  <a:srgbClr val="374151"/>
                </a:solidFill>
              </a:rPr>
              <a:t>HCL on-boarding starts 3/9 and the 3-tier governance model is set</a:t>
            </a:r>
            <a:endParaRPr lang="en-US" sz="1333" dirty="0"/>
          </a:p>
        </p:txBody>
      </p:sp>
      <p:sp>
        <p:nvSpPr>
          <p:cNvPr id="108" name="QCard1"/>
          <p:cNvSpPr/>
          <p:nvPr/>
        </p:nvSpPr>
        <p:spPr>
          <a:xfrm>
            <a:off x="3288027" y="1573333"/>
            <a:ext cx="2754640" cy="4666667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</p:spPr>
        <p:txBody>
          <a:bodyPr/>
          <a:lstStyle/>
          <a:p>
            <a:endParaRPr lang="en-US" sz="2400"/>
          </a:p>
        </p:txBody>
      </p:sp>
      <p:sp>
        <p:nvSpPr>
          <p:cNvPr id="109" name="QTop1"/>
          <p:cNvSpPr/>
          <p:nvPr/>
        </p:nvSpPr>
        <p:spPr>
          <a:xfrm>
            <a:off x="3288027" y="1573333"/>
            <a:ext cx="2754640" cy="106667"/>
          </a:xfrm>
          <a:prstGeom prst="rect">
            <a:avLst/>
          </a:prstGeom>
          <a:solidFill>
            <a:srgbClr val="1FA9F2"/>
          </a:solidFill>
          <a:ln>
            <a:noFill/>
          </a:ln>
        </p:spPr>
        <p:txBody>
          <a:bodyPr/>
          <a:lstStyle/>
          <a:p>
            <a:endParaRPr lang="en-US" sz="2400"/>
          </a:p>
        </p:txBody>
      </p:sp>
      <p:sp>
        <p:nvSpPr>
          <p:cNvPr id="110" name="QLabel1"/>
          <p:cNvSpPr/>
          <p:nvPr/>
        </p:nvSpPr>
        <p:spPr>
          <a:xfrm>
            <a:off x="3474693" y="1840000"/>
            <a:ext cx="2381307" cy="373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67" b="1" kern="0" spc="267" dirty="0">
                <a:solidFill>
                  <a:srgbClr val="1FA9F2"/>
                </a:solidFill>
              </a:rPr>
              <a:t>Q2 2026</a:t>
            </a:r>
            <a:endParaRPr lang="en-US" sz="1467" dirty="0"/>
          </a:p>
        </p:txBody>
      </p:sp>
      <p:sp>
        <p:nvSpPr>
          <p:cNvPr id="111" name="QHead1"/>
          <p:cNvSpPr/>
          <p:nvPr/>
        </p:nvSpPr>
        <p:spPr>
          <a:xfrm>
            <a:off x="3474693" y="2266667"/>
            <a:ext cx="2381307" cy="933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267" b="1" dirty="0">
                <a:solidFill>
                  <a:srgbClr val="111827"/>
                </a:solidFill>
              </a:rPr>
              <a:t>Reach and integration</a:t>
            </a:r>
            <a:endParaRPr lang="en-US" sz="2267" dirty="0"/>
          </a:p>
        </p:txBody>
      </p:sp>
      <p:cxnSp>
        <p:nvCxnSpPr>
          <p:cNvPr id="112" name="QDiv1"/>
          <p:cNvCxnSpPr/>
          <p:nvPr/>
        </p:nvCxnSpPr>
        <p:spPr>
          <a:xfrm>
            <a:off x="3474693" y="3306667"/>
            <a:ext cx="2381307" cy="0"/>
          </a:xfrm>
          <a:prstGeom prst="line">
            <a:avLst/>
          </a:prstGeom>
          <a:ln w="6350">
            <a:solidFill>
              <a:srgbClr val="E5E7EB"/>
            </a:solidFill>
          </a:ln>
        </p:spPr>
      </p:cxnSp>
      <p:sp>
        <p:nvSpPr>
          <p:cNvPr id="113" name="QBullet1_0"/>
          <p:cNvSpPr/>
          <p:nvPr/>
        </p:nvSpPr>
        <p:spPr>
          <a:xfrm>
            <a:off x="3474693" y="3440000"/>
            <a:ext cx="2381307" cy="826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39994" indent="-239994">
              <a:buFont typeface="Arial"/>
              <a:buChar char="•"/>
            </a:pPr>
            <a:r>
              <a:rPr lang="en-US" sz="1333" dirty="0">
                <a:solidFill>
                  <a:srgbClr val="374151"/>
                </a:solidFill>
              </a:rPr>
              <a:t>Mobile experience, Brand Scorecard, and Style-level data ship to Stores</a:t>
            </a:r>
            <a:endParaRPr lang="en-US" sz="1333" dirty="0"/>
          </a:p>
        </p:txBody>
      </p:sp>
      <p:sp>
        <p:nvSpPr>
          <p:cNvPr id="114" name="QBullet1_1"/>
          <p:cNvSpPr/>
          <p:nvPr/>
        </p:nvSpPr>
        <p:spPr>
          <a:xfrm>
            <a:off x="3474693" y="4320000"/>
            <a:ext cx="2381307" cy="826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39994" indent="-239994">
              <a:buFont typeface="Arial"/>
              <a:buChar char="•"/>
            </a:pPr>
            <a:r>
              <a:rPr lang="en-US" sz="1333" dirty="0">
                <a:solidFill>
                  <a:srgbClr val="374151"/>
                </a:solidFill>
              </a:rPr>
              <a:t>MI 360 expands to Japan and Franchise locations</a:t>
            </a:r>
            <a:endParaRPr lang="en-US" sz="1333" dirty="0"/>
          </a:p>
        </p:txBody>
      </p:sp>
      <p:sp>
        <p:nvSpPr>
          <p:cNvPr id="115" name="QBullet1_2"/>
          <p:cNvSpPr/>
          <p:nvPr/>
        </p:nvSpPr>
        <p:spPr>
          <a:xfrm>
            <a:off x="3474693" y="5200000"/>
            <a:ext cx="2381307" cy="826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39994" indent="-239994">
              <a:buFont typeface="Arial"/>
              <a:buChar char="•"/>
            </a:pPr>
            <a:r>
              <a:rPr lang="en-US" sz="1333" dirty="0">
                <a:solidFill>
                  <a:srgbClr val="374151"/>
                </a:solidFill>
              </a:rPr>
              <a:t>Governance committee stands up; quarterly newsletter to HQ and RD+</a:t>
            </a:r>
            <a:endParaRPr lang="en-US" sz="1333" dirty="0"/>
          </a:p>
        </p:txBody>
      </p:sp>
      <p:sp>
        <p:nvSpPr>
          <p:cNvPr id="116" name="QCard2"/>
          <p:cNvSpPr/>
          <p:nvPr/>
        </p:nvSpPr>
        <p:spPr>
          <a:xfrm>
            <a:off x="6149333" y="1573333"/>
            <a:ext cx="2754640" cy="4666667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</p:spPr>
        <p:txBody>
          <a:bodyPr/>
          <a:lstStyle/>
          <a:p>
            <a:endParaRPr lang="en-US" sz="2400"/>
          </a:p>
        </p:txBody>
      </p:sp>
      <p:sp>
        <p:nvSpPr>
          <p:cNvPr id="117" name="QTop2"/>
          <p:cNvSpPr/>
          <p:nvPr/>
        </p:nvSpPr>
        <p:spPr>
          <a:xfrm>
            <a:off x="6149333" y="1573333"/>
            <a:ext cx="2754640" cy="106667"/>
          </a:xfrm>
          <a:prstGeom prst="rect">
            <a:avLst/>
          </a:prstGeom>
          <a:solidFill>
            <a:srgbClr val="7B3FF2"/>
          </a:solidFill>
          <a:ln>
            <a:noFill/>
          </a:ln>
        </p:spPr>
        <p:txBody>
          <a:bodyPr/>
          <a:lstStyle/>
          <a:p>
            <a:endParaRPr lang="en-US" sz="2400"/>
          </a:p>
        </p:txBody>
      </p:sp>
      <p:sp>
        <p:nvSpPr>
          <p:cNvPr id="118" name="QLabel2"/>
          <p:cNvSpPr/>
          <p:nvPr/>
        </p:nvSpPr>
        <p:spPr>
          <a:xfrm>
            <a:off x="6336000" y="1840000"/>
            <a:ext cx="2381307" cy="373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67" b="1" kern="0" spc="267" dirty="0">
                <a:solidFill>
                  <a:srgbClr val="7B3FF2"/>
                </a:solidFill>
              </a:rPr>
              <a:t>Q3 2026</a:t>
            </a:r>
            <a:endParaRPr lang="en-US" sz="1467" dirty="0"/>
          </a:p>
        </p:txBody>
      </p:sp>
      <p:sp>
        <p:nvSpPr>
          <p:cNvPr id="119" name="QHead2"/>
          <p:cNvSpPr/>
          <p:nvPr/>
        </p:nvSpPr>
        <p:spPr>
          <a:xfrm>
            <a:off x="6336000" y="2266667"/>
            <a:ext cx="2381307" cy="933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267" b="1" dirty="0">
                <a:solidFill>
                  <a:srgbClr val="111827"/>
                </a:solidFill>
              </a:rPr>
              <a:t>From hourly to intraday</a:t>
            </a:r>
            <a:endParaRPr lang="en-US" sz="2267" dirty="0"/>
          </a:p>
        </p:txBody>
      </p:sp>
      <p:cxnSp>
        <p:nvCxnSpPr>
          <p:cNvPr id="120" name="QDiv2"/>
          <p:cNvCxnSpPr/>
          <p:nvPr/>
        </p:nvCxnSpPr>
        <p:spPr>
          <a:xfrm>
            <a:off x="6336000" y="3306667"/>
            <a:ext cx="2381307" cy="0"/>
          </a:xfrm>
          <a:prstGeom prst="line">
            <a:avLst/>
          </a:prstGeom>
          <a:ln w="6350">
            <a:solidFill>
              <a:srgbClr val="E5E7EB"/>
            </a:solidFill>
          </a:ln>
        </p:spPr>
      </p:cxnSp>
      <p:sp>
        <p:nvSpPr>
          <p:cNvPr id="121" name="QBullet2_0"/>
          <p:cNvSpPr/>
          <p:nvPr/>
        </p:nvSpPr>
        <p:spPr>
          <a:xfrm>
            <a:off x="6336000" y="3440000"/>
            <a:ext cx="2381307" cy="826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39994" indent="-239994">
              <a:buFont typeface="Arial"/>
              <a:buChar char="•"/>
            </a:pPr>
            <a:r>
              <a:rPr lang="en-US" sz="1333" dirty="0">
                <a:solidFill>
                  <a:srgbClr val="374151"/>
                </a:solidFill>
              </a:rPr>
              <a:t>15-minute reporting cadence replaces hourly - intraday ops decisions</a:t>
            </a:r>
            <a:endParaRPr lang="en-US" sz="1333" dirty="0"/>
          </a:p>
        </p:txBody>
      </p:sp>
      <p:sp>
        <p:nvSpPr>
          <p:cNvPr id="122" name="QBullet2_1"/>
          <p:cNvSpPr/>
          <p:nvPr/>
        </p:nvSpPr>
        <p:spPr>
          <a:xfrm>
            <a:off x="6336000" y="4320000"/>
            <a:ext cx="2381307" cy="826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39994" indent="-239994">
              <a:buFont typeface="Arial"/>
              <a:buChar char="•"/>
            </a:pPr>
            <a:r>
              <a:rPr lang="en-US" sz="1333" dirty="0">
                <a:solidFill>
                  <a:srgbClr val="374151"/>
                </a:solidFill>
              </a:rPr>
              <a:t>Data Insights Portfolio with AI Summary goes live across Stores</a:t>
            </a:r>
            <a:endParaRPr lang="en-US" sz="1333" dirty="0"/>
          </a:p>
        </p:txBody>
      </p:sp>
      <p:sp>
        <p:nvSpPr>
          <p:cNvPr id="123" name="QBullet2_2"/>
          <p:cNvSpPr/>
          <p:nvPr/>
        </p:nvSpPr>
        <p:spPr>
          <a:xfrm>
            <a:off x="6336000" y="5200000"/>
            <a:ext cx="2381307" cy="826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39994" indent="-239994">
              <a:buFont typeface="Arial"/>
              <a:buChar char="•"/>
            </a:pPr>
            <a:r>
              <a:rPr lang="en-US" sz="1333" dirty="0">
                <a:solidFill>
                  <a:srgbClr val="374151"/>
                </a:solidFill>
              </a:rPr>
              <a:t>AI Chatbot integration complete; quarterly intentional store visits begin</a:t>
            </a:r>
            <a:endParaRPr lang="en-US" sz="1333" dirty="0"/>
          </a:p>
        </p:txBody>
      </p:sp>
      <p:sp>
        <p:nvSpPr>
          <p:cNvPr id="124" name="QCard3"/>
          <p:cNvSpPr/>
          <p:nvPr/>
        </p:nvSpPr>
        <p:spPr>
          <a:xfrm>
            <a:off x="9010640" y="1573333"/>
            <a:ext cx="2754640" cy="4666667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</p:spPr>
        <p:txBody>
          <a:bodyPr/>
          <a:lstStyle/>
          <a:p>
            <a:endParaRPr lang="en-US" sz="2400"/>
          </a:p>
        </p:txBody>
      </p:sp>
      <p:sp>
        <p:nvSpPr>
          <p:cNvPr id="125" name="QTop3"/>
          <p:cNvSpPr/>
          <p:nvPr/>
        </p:nvSpPr>
        <p:spPr>
          <a:xfrm>
            <a:off x="9010640" y="1573333"/>
            <a:ext cx="2754640" cy="106667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/>
          <a:lstStyle/>
          <a:p>
            <a:endParaRPr lang="en-US" sz="2400"/>
          </a:p>
        </p:txBody>
      </p:sp>
      <p:sp>
        <p:nvSpPr>
          <p:cNvPr id="126" name="QLabel3"/>
          <p:cNvSpPr/>
          <p:nvPr/>
        </p:nvSpPr>
        <p:spPr>
          <a:xfrm>
            <a:off x="9197307" y="1840000"/>
            <a:ext cx="2381307" cy="373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67" b="1" kern="0" spc="267" dirty="0">
                <a:solidFill>
                  <a:srgbClr val="EA580C"/>
                </a:solidFill>
              </a:rPr>
              <a:t>Q4 2026</a:t>
            </a:r>
            <a:endParaRPr lang="en-US" sz="1467" dirty="0"/>
          </a:p>
        </p:txBody>
      </p:sp>
      <p:sp>
        <p:nvSpPr>
          <p:cNvPr id="127" name="QHead3"/>
          <p:cNvSpPr/>
          <p:nvPr/>
        </p:nvSpPr>
        <p:spPr>
          <a:xfrm>
            <a:off x="9197307" y="2266667"/>
            <a:ext cx="2381307" cy="933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267" b="1" dirty="0">
                <a:solidFill>
                  <a:srgbClr val="111827"/>
                </a:solidFill>
              </a:rPr>
              <a:t>One platform, less surface</a:t>
            </a:r>
            <a:endParaRPr lang="en-US" sz="2267" dirty="0"/>
          </a:p>
        </p:txBody>
      </p:sp>
      <p:cxnSp>
        <p:nvCxnSpPr>
          <p:cNvPr id="128" name="QDiv3"/>
          <p:cNvCxnSpPr/>
          <p:nvPr/>
        </p:nvCxnSpPr>
        <p:spPr>
          <a:xfrm>
            <a:off x="9197307" y="3306667"/>
            <a:ext cx="2381307" cy="0"/>
          </a:xfrm>
          <a:prstGeom prst="line">
            <a:avLst/>
          </a:prstGeom>
          <a:ln w="6350">
            <a:solidFill>
              <a:srgbClr val="E5E7EB"/>
            </a:solidFill>
          </a:ln>
        </p:spPr>
      </p:cxnSp>
      <p:sp>
        <p:nvSpPr>
          <p:cNvPr id="129" name="QBullet3_0"/>
          <p:cNvSpPr/>
          <p:nvPr/>
        </p:nvSpPr>
        <p:spPr>
          <a:xfrm>
            <a:off x="9197307" y="3440000"/>
            <a:ext cx="2381307" cy="826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39994" indent="-239994">
              <a:buFont typeface="Arial"/>
              <a:buChar char="•"/>
            </a:pPr>
            <a:r>
              <a:rPr lang="en-US" sz="1333" dirty="0">
                <a:solidFill>
                  <a:srgbClr val="374151"/>
                </a:solidFill>
              </a:rPr>
              <a:t>Integrated One Platform Experience consolidates MI 360 surfaces</a:t>
            </a:r>
            <a:endParaRPr lang="en-US" sz="1333" dirty="0"/>
          </a:p>
        </p:txBody>
      </p:sp>
      <p:sp>
        <p:nvSpPr>
          <p:cNvPr id="130" name="QBullet3_1"/>
          <p:cNvSpPr/>
          <p:nvPr/>
        </p:nvSpPr>
        <p:spPr>
          <a:xfrm>
            <a:off x="9197307" y="4320000"/>
            <a:ext cx="2381307" cy="826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39994" indent="-239994">
              <a:buFont typeface="Arial"/>
              <a:buChar char="•"/>
            </a:pPr>
            <a:r>
              <a:rPr lang="en-US" sz="1333" dirty="0">
                <a:solidFill>
                  <a:srgbClr val="374151"/>
                </a:solidFill>
              </a:rPr>
              <a:t>Data Insights Portfolio matures; AI Summary embedded in daily review</a:t>
            </a:r>
            <a:endParaRPr lang="en-US" sz="1333" dirty="0"/>
          </a:p>
        </p:txBody>
      </p:sp>
      <p:sp>
        <p:nvSpPr>
          <p:cNvPr id="131" name="QBullet3_2"/>
          <p:cNvSpPr/>
          <p:nvPr/>
        </p:nvSpPr>
        <p:spPr>
          <a:xfrm>
            <a:off x="9197307" y="5200000"/>
            <a:ext cx="2381307" cy="826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39994" indent="-239994">
              <a:buFont typeface="Arial"/>
              <a:buChar char="•"/>
            </a:pPr>
            <a:r>
              <a:rPr lang="en-US" sz="1333" dirty="0">
                <a:solidFill>
                  <a:srgbClr val="374151"/>
                </a:solidFill>
              </a:rPr>
              <a:t>Report Sunset Review retires legacy reports - less to maintain, more signal</a:t>
            </a:r>
            <a:endParaRPr lang="en-US" sz="1333" dirty="0"/>
          </a:p>
        </p:txBody>
      </p:sp>
      <p:sp>
        <p:nvSpPr>
          <p:cNvPr id="132" name="BottomNote"/>
          <p:cNvSpPr/>
          <p:nvPr/>
        </p:nvSpPr>
        <p:spPr>
          <a:xfrm>
            <a:off x="426720" y="6413333"/>
            <a:ext cx="1133856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dirty="0">
                <a:solidFill>
                  <a:srgbClr val="6B7280"/>
                </a:solidFill>
              </a:rPr>
              <a:t>Each quarter compounds the last — foundation, integration, intraday, then consolidation.</a:t>
            </a:r>
            <a:endParaRPr lang="en-US" sz="1200" dirty="0"/>
          </a:p>
        </p:txBody>
      </p:sp>
      <p:sp>
        <p:nvSpPr>
          <p:cNvPr id="133" name="PageNum"/>
          <p:cNvSpPr/>
          <p:nvPr/>
        </p:nvSpPr>
        <p:spPr>
          <a:xfrm>
            <a:off x="11466667" y="6533333"/>
            <a:ext cx="533333" cy="266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dirty="0">
                <a:solidFill>
                  <a:srgbClr val="9CA3AF"/>
                </a:solidFill>
              </a:rPr>
              <a:t>30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7348" y="137162"/>
            <a:ext cx="689438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dirty="0">
                <a:solidFill>
                  <a:srgbClr val="FFFFFF"/>
                </a:solidFill>
              </a:rPr>
              <a:t>Weekly User Count  |  </a:t>
            </a:r>
            <a:r>
              <a:rPr sz="1600" b="1" dirty="0" err="1">
                <a:solidFill>
                  <a:srgbClr val="FFFFFF"/>
                </a:solidFill>
              </a:rPr>
              <a:t>MyInsights</a:t>
            </a:r>
            <a:r>
              <a:rPr sz="1600" b="1" dirty="0">
                <a:solidFill>
                  <a:srgbClr val="FFFFFF"/>
                </a:solidFill>
              </a:rPr>
              <a:t> Legacy vs MI360  |  Apr 18 – May 23,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367348" y="777240"/>
            <a:ext cx="2560320" cy="841248"/>
          </a:xfrm>
          <a:prstGeom prst="rect">
            <a:avLst/>
          </a:prstGeom>
          <a:solidFill>
            <a:srgbClr val="1A1A3E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50800" bIns="25400" rtlCol="0" anchor="ctr"/>
          <a:lstStyle/>
          <a:p>
            <a:pPr algn="ctr"/>
            <a:r>
              <a:rPr sz="800">
                <a:solidFill>
                  <a:srgbClr val="AAAACC"/>
                </a:solidFill>
              </a:rPr>
              <a:t>Legacy Peak</a:t>
            </a:r>
          </a:p>
          <a:p>
            <a:pPr algn="ctr"/>
            <a:r>
              <a:rPr sz="2200" b="1">
                <a:solidFill>
                  <a:srgbClr val="4A90D9"/>
                </a:solidFill>
              </a:rPr>
              <a:t>596</a:t>
            </a:r>
          </a:p>
          <a:p>
            <a:pPr algn="ctr"/>
            <a:r>
              <a:rPr sz="751">
                <a:solidFill>
                  <a:srgbClr val="AAAACC"/>
                </a:solidFill>
              </a:rPr>
              <a:t>May 9</a:t>
            </a:r>
          </a:p>
        </p:txBody>
      </p:sp>
      <p:sp>
        <p:nvSpPr>
          <p:cNvPr id="4" name="Rectangle 3"/>
          <p:cNvSpPr/>
          <p:nvPr/>
        </p:nvSpPr>
        <p:spPr>
          <a:xfrm>
            <a:off x="3293428" y="777240"/>
            <a:ext cx="2560320" cy="841248"/>
          </a:xfrm>
          <a:prstGeom prst="rect">
            <a:avLst/>
          </a:prstGeom>
          <a:solidFill>
            <a:srgbClr val="1A1A3E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50800" bIns="25400" rtlCol="0" anchor="ctr"/>
          <a:lstStyle/>
          <a:p>
            <a:pPr algn="ctr"/>
            <a:r>
              <a:rPr sz="800">
                <a:solidFill>
                  <a:srgbClr val="AAAACC"/>
                </a:solidFill>
              </a:rPr>
              <a:t>Legacy Latest</a:t>
            </a:r>
          </a:p>
          <a:p>
            <a:pPr algn="ctr"/>
            <a:r>
              <a:rPr sz="2200" b="1">
                <a:solidFill>
                  <a:srgbClr val="4A90D9"/>
                </a:solidFill>
              </a:rPr>
              <a:t>47</a:t>
            </a:r>
          </a:p>
          <a:p>
            <a:pPr algn="ctr"/>
            <a:r>
              <a:rPr sz="751">
                <a:solidFill>
                  <a:srgbClr val="AAAACC"/>
                </a:solidFill>
              </a:rPr>
              <a:t>May 23  •  −92% from peak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9508" y="777240"/>
            <a:ext cx="2560320" cy="841248"/>
          </a:xfrm>
          <a:prstGeom prst="rect">
            <a:avLst/>
          </a:prstGeom>
          <a:solidFill>
            <a:srgbClr val="1A1A3E"/>
          </a:solidFill>
          <a:ln w="19050">
            <a:solidFill>
              <a:srgbClr val="2EC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50800" bIns="25400" rtlCol="0" anchor="ctr"/>
          <a:lstStyle/>
          <a:p>
            <a:pPr algn="ctr"/>
            <a:r>
              <a:rPr sz="800">
                <a:solidFill>
                  <a:srgbClr val="AAAACC"/>
                </a:solidFill>
              </a:rPr>
              <a:t>MI-360 Peak</a:t>
            </a:r>
          </a:p>
          <a:p>
            <a:pPr algn="ctr"/>
            <a:r>
              <a:rPr sz="2200" b="1">
                <a:solidFill>
                  <a:srgbClr val="2ECC9A"/>
                </a:solidFill>
              </a:rPr>
              <a:t>281</a:t>
            </a:r>
          </a:p>
          <a:p>
            <a:pPr algn="ctr"/>
            <a:r>
              <a:rPr sz="751">
                <a:solidFill>
                  <a:srgbClr val="AAAACC"/>
                </a:solidFill>
              </a:rPr>
              <a:t>May 9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5588" y="777240"/>
            <a:ext cx="2560320" cy="841248"/>
          </a:xfrm>
          <a:prstGeom prst="rect">
            <a:avLst/>
          </a:prstGeom>
          <a:solidFill>
            <a:srgbClr val="1A1A3E"/>
          </a:solidFill>
          <a:ln w="19050">
            <a:solidFill>
              <a:srgbClr val="2EC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50800" bIns="25400" rtlCol="0" anchor="ctr"/>
          <a:lstStyle/>
          <a:p>
            <a:pPr algn="ctr"/>
            <a:r>
              <a:rPr sz="800" dirty="0">
                <a:solidFill>
                  <a:srgbClr val="AAAACC"/>
                </a:solidFill>
              </a:rPr>
              <a:t>MI-360 Latest</a:t>
            </a:r>
          </a:p>
          <a:p>
            <a:pPr algn="ctr"/>
            <a:r>
              <a:rPr sz="2200" b="1" dirty="0">
                <a:solidFill>
                  <a:srgbClr val="2ECC9A"/>
                </a:solidFill>
              </a:rPr>
              <a:t>21</a:t>
            </a:r>
            <a:r>
              <a:rPr lang="en-US" sz="2200" b="1" dirty="0">
                <a:solidFill>
                  <a:srgbClr val="2ECC9A"/>
                </a:solidFill>
              </a:rPr>
              <a:t>5</a:t>
            </a:r>
            <a:endParaRPr sz="2200" b="1" dirty="0">
              <a:solidFill>
                <a:srgbClr val="2ECC9A"/>
              </a:solidFill>
            </a:endParaRPr>
          </a:p>
          <a:p>
            <a:pPr algn="ctr"/>
            <a:r>
              <a:rPr sz="751" dirty="0">
                <a:solidFill>
                  <a:srgbClr val="AAAACC"/>
                </a:solidFill>
              </a:rPr>
              <a:t>May 23  •  +126% vs start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367348" y="1783080"/>
          <a:ext cx="1143000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6720" y="304800"/>
            <a:ext cx="11338560" cy="6705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729" b="1">
                <a:solidFill>
                  <a:srgbClr val="111827"/>
                </a:solidFill>
              </a:rPr>
              <a:t>Spotlight joins Stores Intelligence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26720" y="933333"/>
            <a:ext cx="11338560" cy="42666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70" b="0">
                <a:solidFill>
                  <a:srgbClr val="6B7280"/>
                </a:solidFill>
              </a:rPr>
              <a:t>Stores AI now formally part of the value stream — as of last week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720" y="1666667"/>
            <a:ext cx="2733333" cy="2466667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6720" y="1666667"/>
            <a:ext cx="2733333" cy="66667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6667" y="1866667"/>
            <a:ext cx="2573439" cy="12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7200" b="1">
                <a:solidFill>
                  <a:srgbClr val="1976D2"/>
                </a:solidFill>
              </a:rPr>
              <a:t>85</a:t>
            </a:r>
            <a:r>
              <a:rPr sz="4270" b="1">
                <a:solidFill>
                  <a:srgbClr val="1976D2"/>
                </a:solidFill>
              </a:rPr>
              <a:t>%</a:t>
            </a:r>
          </a:p>
        </p:txBody>
      </p:sp>
      <p:sp>
        <p:nvSpPr>
          <p:cNvPr id="7" name="Rectangle 6"/>
          <p:cNvSpPr/>
          <p:nvPr/>
        </p:nvSpPr>
        <p:spPr>
          <a:xfrm>
            <a:off x="506667" y="3200001"/>
            <a:ext cx="2573439" cy="93333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111827"/>
                </a:solidFill>
              </a:rPr>
              <a:t>Store fleet coverage</a:t>
            </a:r>
          </a:p>
          <a:p>
            <a:pPr algn="l"/>
            <a:r>
              <a:rPr sz="1200" b="0">
                <a:solidFill>
                  <a:srgbClr val="6B7280"/>
                </a:solidFill>
              </a:rPr>
              <a:t>Live across 85% of GAP's store fleet — the only exception is GAP Japan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3387" y="1666667"/>
            <a:ext cx="2733333" cy="2466667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93387" y="1666667"/>
            <a:ext cx="2733333" cy="66667"/>
          </a:xfrm>
          <a:prstGeom prst="rect">
            <a:avLst/>
          </a:prstGeom>
          <a:solidFill>
            <a:srgbClr val="1FA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73334" y="1866667"/>
            <a:ext cx="2573439" cy="12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7200" b="1">
                <a:solidFill>
                  <a:srgbClr val="1FA9F2"/>
                </a:solidFill>
              </a:rPr>
              <a:t>4.5</a:t>
            </a:r>
            <a:r>
              <a:rPr sz="4270" b="1">
                <a:solidFill>
                  <a:srgbClr val="1FA9F2"/>
                </a:solidFill>
              </a:rPr>
              <a:t>yr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73334" y="3200001"/>
            <a:ext cx="2573439" cy="93333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111827"/>
                </a:solidFill>
              </a:rPr>
              <a:t>In the GAP ecosystem</a:t>
            </a:r>
          </a:p>
          <a:p>
            <a:pPr algn="l"/>
            <a:r>
              <a:rPr sz="1200" b="0">
                <a:solidFill>
                  <a:srgbClr val="6B7280"/>
                </a:solidFill>
              </a:rPr>
              <a:t>CB4 acquired ~4.5 years ago; Roee has been with the team since day one, with a background in recommender systems and data science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60054" y="1666667"/>
            <a:ext cx="2733333" cy="2466667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60054" y="1666667"/>
            <a:ext cx="2733333" cy="66667"/>
          </a:xfrm>
          <a:prstGeom prst="rect">
            <a:avLst/>
          </a:prstGeom>
          <a:solidFill>
            <a:srgbClr val="7B3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40001" y="1866667"/>
            <a:ext cx="2573439" cy="12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7200" b="1">
                <a:solidFill>
                  <a:srgbClr val="7B3FF2"/>
                </a:solidFill>
              </a:rPr>
              <a:t>2</a:t>
            </a:r>
            <a:r>
              <a:rPr sz="4270" b="1">
                <a:solidFill>
                  <a:srgbClr val="7B3FF2"/>
                </a:solidFill>
              </a:rPr>
              <a:t>-in-1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0001" y="3200001"/>
            <a:ext cx="2573439" cy="93333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111827"/>
                </a:solidFill>
              </a:rPr>
              <a:t>What Spotlight delivers</a:t>
            </a:r>
          </a:p>
          <a:p>
            <a:pPr algn="l"/>
            <a:r>
              <a:rPr sz="1200" b="0">
                <a:solidFill>
                  <a:srgbClr val="6B7280"/>
                </a:solidFill>
              </a:rPr>
              <a:t>Finds anomalies store associates can act on — and surfaces revenue-generating opportunities in the same workflow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26721" y="1666667"/>
            <a:ext cx="2733333" cy="2466667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26721" y="1666667"/>
            <a:ext cx="2733333" cy="66667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06668" y="1866667"/>
            <a:ext cx="2573439" cy="12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7200" b="1">
                <a:solidFill>
                  <a:srgbClr val="EA580C"/>
                </a:solidFill>
              </a:rPr>
              <a:t>RFID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06668" y="3200001"/>
            <a:ext cx="2573439" cy="93333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111827"/>
                </a:solidFill>
              </a:rPr>
              <a:t>Roee's team: what's next</a:t>
            </a:r>
          </a:p>
          <a:p>
            <a:pPr algn="l"/>
            <a:r>
              <a:rPr sz="1200" b="0">
                <a:solidFill>
                  <a:srgbClr val="6B7280"/>
                </a:solidFill>
              </a:rPr>
              <a:t>Beyond Spotlight — the team is currently driving the RFID initiative, expanding across brands and regions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6720" y="4506667"/>
            <a:ext cx="11765280" cy="1866667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6667" y="4666667"/>
            <a:ext cx="10666667" cy="3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30" b="1">
                <a:solidFill>
                  <a:srgbClr val="EA580C"/>
                </a:solidFill>
              </a:rPr>
              <a:t>THE INTEGRATION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6667" y="5040000"/>
            <a:ext cx="10666667" cy="66666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670" b="1">
                <a:solidFill>
                  <a:srgbClr val="FFFFFF"/>
                </a:solidFill>
              </a:rPr>
              <a:t>Spotlight is now a formal pillar of Stores Intelligence.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6667" y="5773334"/>
            <a:ext cx="10666667" cy="53333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9CA3AF"/>
                </a:solidFill>
              </a:rPr>
              <a:t>With Roee's team under Hetal's org, anomaly detection, revenue recommendations, and RFID move inside the same value stream as MyInsights360.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66667" y="6533333"/>
            <a:ext cx="533333" cy="26666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/>
            <a:r>
              <a:rPr sz="1200" b="0">
                <a:solidFill>
                  <a:srgbClr val="9CA3AF"/>
                </a:solidFill>
              </a:rPr>
              <a:t>31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6720" y="304800"/>
            <a:ext cx="11338560" cy="6705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729" b="1">
                <a:solidFill>
                  <a:srgbClr val="111827"/>
                </a:solidFill>
              </a:rPr>
              <a:t>Vision: The Store as a Microsite</a:t>
            </a:r>
          </a:p>
        </p:txBody>
      </p:sp>
      <p:sp>
        <p:nvSpPr>
          <p:cNvPr id="3" name="Rectangle 2"/>
          <p:cNvSpPr/>
          <p:nvPr/>
        </p:nvSpPr>
        <p:spPr>
          <a:xfrm>
            <a:off x="426720" y="933333"/>
            <a:ext cx="11338560" cy="42666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70" b="0">
                <a:solidFill>
                  <a:srgbClr val="6B7280"/>
                </a:solidFill>
              </a:rPr>
              <a:t>Applying the digital tracking playbook to the physical floor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720" y="1573333"/>
            <a:ext cx="2754640" cy="4666667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6720" y="1573333"/>
            <a:ext cx="2754640" cy="106667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3387" y="1840000"/>
            <a:ext cx="2487973" cy="37333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70" b="1">
                <a:solidFill>
                  <a:srgbClr val="1976D2"/>
                </a:solidFill>
              </a:rPr>
              <a:t>IN-STORE SIGNAL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13387" y="2266667"/>
            <a:ext cx="2487973" cy="93333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70" b="1">
                <a:solidFill>
                  <a:srgbClr val="111827"/>
                </a:solidFill>
              </a:rPr>
              <a:t>Customer picks up an item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613387" y="3306667"/>
            <a:ext cx="2487973" cy="6667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3387" y="3440000"/>
            <a:ext cx="2487973" cy="82666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30" b="0">
                <a:solidFill>
                  <a:srgbClr val="374151"/>
                </a:solidFill>
              </a:rPr>
              <a:t>Equivalent to "Add to Cart" in digital — high-intent browsing signal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3387" y="4320000"/>
            <a:ext cx="2487973" cy="82666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30" b="0">
                <a:solidFill>
                  <a:srgbClr val="374151"/>
                </a:solidFill>
              </a:rPr>
              <a:t>Data shared with store leaders and GMs to surface demand patterns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3387" y="5200000"/>
            <a:ext cx="2487973" cy="82666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30" b="0">
                <a:solidFill>
                  <a:srgbClr val="374151"/>
                </a:solidFill>
              </a:rPr>
              <a:t>Feeds Spotlight anomaly detection when signals diverge from expected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88027" y="1573333"/>
            <a:ext cx="2754640" cy="4666667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88027" y="1573333"/>
            <a:ext cx="2754640" cy="106667"/>
          </a:xfrm>
          <a:prstGeom prst="rect">
            <a:avLst/>
          </a:prstGeom>
          <a:solidFill>
            <a:srgbClr val="1FA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74694" y="1840000"/>
            <a:ext cx="2487973" cy="37333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70" b="1">
                <a:solidFill>
                  <a:srgbClr val="1FA9F2"/>
                </a:solidFill>
              </a:rPr>
              <a:t>IN-STORE SIGNAL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694" y="2266667"/>
            <a:ext cx="2487973" cy="93333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70" b="1">
                <a:solidFill>
                  <a:srgbClr val="111827"/>
                </a:solidFill>
              </a:rPr>
              <a:t>Fitting room visit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694" y="3306667"/>
            <a:ext cx="2487973" cy="6667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74694" y="3440000"/>
            <a:ext cx="2487973" cy="82666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30" b="0">
                <a:solidFill>
                  <a:srgbClr val="374151"/>
                </a:solidFill>
              </a:rPr>
              <a:t>Equivalent to a product detail page + engagement — close-to-convert moment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694" y="4320000"/>
            <a:ext cx="2487973" cy="82666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30" b="0">
                <a:solidFill>
                  <a:srgbClr val="374151"/>
                </a:solidFill>
              </a:rPr>
              <a:t>High-intent signal linking browsing to conversion at style level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694" y="5200000"/>
            <a:ext cx="2487973" cy="82666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30" b="0">
                <a:solidFill>
                  <a:srgbClr val="374151"/>
                </a:solidFill>
              </a:rPr>
              <a:t>Downstream hooks into returns data and loyalty ID resolution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9334" y="1573333"/>
            <a:ext cx="2754640" cy="4666667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9334" y="1573333"/>
            <a:ext cx="2754640" cy="106667"/>
          </a:xfrm>
          <a:prstGeom prst="rect">
            <a:avLst/>
          </a:prstGeom>
          <a:solidFill>
            <a:srgbClr val="7B3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001" y="1840000"/>
            <a:ext cx="2487973" cy="37333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70" b="1">
                <a:solidFill>
                  <a:srgbClr val="7B3FF2"/>
                </a:solidFill>
              </a:rPr>
              <a:t>IN-STORE SIGNAL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36001" y="2266667"/>
            <a:ext cx="2487973" cy="93333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70" b="1">
                <a:solidFill>
                  <a:srgbClr val="111827"/>
                </a:solidFill>
              </a:rPr>
              <a:t>Associate interaction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36001" y="3306667"/>
            <a:ext cx="2487973" cy="6667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36001" y="3440000"/>
            <a:ext cx="2487973" cy="82666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30" b="0">
                <a:solidFill>
                  <a:srgbClr val="374151"/>
                </a:solidFill>
              </a:rPr>
              <a:t>Equivalent to live chat assist or guided search — assisted conversion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36001" y="4320000"/>
            <a:ext cx="2487973" cy="82666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30" b="0">
                <a:solidFill>
                  <a:srgbClr val="374151"/>
                </a:solidFill>
              </a:rPr>
              <a:t>Employee performance lens for GMs and district managers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36001" y="5200000"/>
            <a:ext cx="2487973" cy="82666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30" b="0">
                <a:solidFill>
                  <a:srgbClr val="374151"/>
                </a:solidFill>
              </a:rPr>
              <a:t>Informs WFM scheduling, incentives, and AI Forecasting inputs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10641" y="1573333"/>
            <a:ext cx="2754640" cy="4666667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10641" y="1573333"/>
            <a:ext cx="2754640" cy="106667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97308" y="1840000"/>
            <a:ext cx="2487973" cy="37333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70" b="1">
                <a:solidFill>
                  <a:srgbClr val="EA580C"/>
                </a:solidFill>
              </a:rPr>
              <a:t>IN-STORE SIGNAL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97308" y="2266667"/>
            <a:ext cx="2487973" cy="93333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70" b="1">
                <a:solidFill>
                  <a:srgbClr val="111827"/>
                </a:solidFill>
              </a:rPr>
              <a:t>Exit without purchase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97308" y="3306667"/>
            <a:ext cx="2487973" cy="6667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197308" y="3440000"/>
            <a:ext cx="2487973" cy="82666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30" b="0">
                <a:solidFill>
                  <a:srgbClr val="374151"/>
                </a:solidFill>
              </a:rPr>
              <a:t>Equivalent to cart abandonment — surfaces friction for store leaders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97308" y="4320000"/>
            <a:ext cx="2487973" cy="82666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30" b="0">
                <a:solidFill>
                  <a:srgbClr val="374151"/>
                </a:solidFill>
              </a:rPr>
              <a:t>Routed back into Spotlight for anomaly flagging at the store level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97308" y="5200000"/>
            <a:ext cx="2487973" cy="82666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30" b="0">
                <a:solidFill>
                  <a:srgbClr val="374151"/>
                </a:solidFill>
              </a:rPr>
              <a:t>Closes the loop: detection → action → outcome — same as digital funnel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6720" y="6373333"/>
            <a:ext cx="11338560" cy="32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70" b="1">
                <a:solidFill>
                  <a:srgbClr val="FFFFFF"/>
                </a:solidFill>
              </a:rPr>
              <a:t>Physical signals → digital intelligence → store decisions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466667" y="6533333"/>
            <a:ext cx="533333" cy="26666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/>
            <a:r>
              <a:rPr sz="1200" b="0">
                <a:solidFill>
                  <a:srgbClr val="9CA3AF"/>
                </a:solidFill>
              </a:rPr>
              <a:t>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350</TotalTime>
  <Words>561</Words>
  <Application>Microsoft Office PowerPoint</Application>
  <PresentationFormat>Widescreen</PresentationFormat>
  <Paragraphs>94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Gap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Sejal Porwal</dc:creator>
  <cp:lastModifiedBy>Sejal Porwal</cp:lastModifiedBy>
  <cp:revision>2</cp:revision>
  <dcterms:created xsi:type="dcterms:W3CDTF">2026-05-27T00:25:16Z</dcterms:created>
  <dcterms:modified xsi:type="dcterms:W3CDTF">2026-05-27T06:16:02Z</dcterms:modified>
</cp:coreProperties>
</file>