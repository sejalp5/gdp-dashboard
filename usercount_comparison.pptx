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MyInsights Legacy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Apr 18</c:v>
                </c:pt>
                <c:pt idx="1">
                  <c:v>Apr 25</c:v>
                </c:pt>
                <c:pt idx="2">
                  <c:v>May 2</c:v>
                </c:pt>
                <c:pt idx="3">
                  <c:v>May 9</c:v>
                </c:pt>
                <c:pt idx="4">
                  <c:v>May 16</c:v>
                </c:pt>
                <c:pt idx="5">
                  <c:v>May 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351</c:v>
                </c:pt>
                <c:pt idx="1">
                  <c:v>590</c:v>
                </c:pt>
                <c:pt idx="2">
                  <c:v>593</c:v>
                </c:pt>
                <c:pt idx="3">
                  <c:v>596</c:v>
                </c:pt>
                <c:pt idx="4">
                  <c:v>561</c:v>
                </c:pt>
                <c:pt idx="5">
                  <c:v>47</c:v>
                </c:pt>
              </c:numCache>
            </c:numRef>
          </c:val>
          <c:spPr>
            <a:solidFill>
              <a:srgbClr val="4A90D9"/>
            </a:solidFill>
          </c:spP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MI-360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Apr 18</c:v>
                </c:pt>
                <c:pt idx="1">
                  <c:v>Apr 25</c:v>
                </c:pt>
                <c:pt idx="2">
                  <c:v>May 2</c:v>
                </c:pt>
                <c:pt idx="3">
                  <c:v>May 9</c:v>
                </c:pt>
                <c:pt idx="4">
                  <c:v>May 16</c:v>
                </c:pt>
                <c:pt idx="5">
                  <c:v>May 23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90</c:v>
                </c:pt>
                <c:pt idx="2">
                  <c:v>108</c:v>
                </c:pt>
                <c:pt idx="3">
                  <c:v>281</c:v>
                </c:pt>
                <c:pt idx="4">
                  <c:v>210</c:v>
                </c:pt>
                <c:pt idx="5">
                  <c:v>215</c:v>
                </c:pt>
              </c:numCache>
            </c:numRef>
          </c:val>
          <c:spPr>
            <a:solidFill>
              <a:srgbClr val="2ECC9A"/>
            </a:solidFill>
          </c:spPr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</a:p>
        </c:txPr>
        <c:crossAx val="-2068027336"/>
        <c:crosses val="autoZero"/>
        <c:spPr>
          <a:solidFill>
            <a:srgbClr val="333355"/>
          </a:solidFill>
          <a:ln>
            <a:solidFill>
              <a:srgbClr val="444466"/>
            </a:solidFill>
          </a:ln>
        </c:spPr>
      </c:valAx>
      <c:spPr>
        <a:solidFill>
          <a:srgbClr val="14143A"/>
        </a:solidFill>
      </c:spPr>
    </c:plotArea>
    <c:legend>
      <c:txPr>
        <a:bodyPr/>
        <a:lstStyle/>
        <a:p>
          <a:pPr>
            <a:defRPr sz="11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D0D2B"/>
    </a:solidFill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Weekly User Count  |  MyInsights Legacy vs MI-360  |  Apr 18 – May 23,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2560320" cy="841248"/>
          </a:xfrm>
          <a:prstGeom prst="rect">
            <a:avLst/>
          </a:prstGeom>
          <a:solidFill>
            <a:srgbClr val="1A1A3E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25400" wrap="none"/>
          <a:lstStyle/>
          <a:p>
            <a:pPr algn="ctr"/>
            <a:r>
              <a:rPr sz="800">
                <a:solidFill>
                  <a:srgbClr val="AAAACC"/>
                </a:solidFill>
              </a:rPr>
              <a:t>Legacy Peak</a:t>
            </a:r>
          </a:p>
          <a:p>
            <a:pPr algn="ctr"/>
            <a:r>
              <a:rPr sz="2200" b="1">
                <a:solidFill>
                  <a:srgbClr val="4A90D9"/>
                </a:solidFill>
              </a:rPr>
              <a:t>596</a:t>
            </a:r>
          </a:p>
          <a:p>
            <a:pPr algn="ctr"/>
            <a:r>
              <a:rPr sz="750">
                <a:solidFill>
                  <a:srgbClr val="AAAACC"/>
                </a:solidFill>
              </a:rPr>
              <a:t>May 9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777240"/>
            <a:ext cx="2560320" cy="841248"/>
          </a:xfrm>
          <a:prstGeom prst="rect">
            <a:avLst/>
          </a:prstGeom>
          <a:solidFill>
            <a:srgbClr val="1A1A3E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25400" wrap="none"/>
          <a:lstStyle/>
          <a:p>
            <a:pPr algn="ctr"/>
            <a:r>
              <a:rPr sz="800">
                <a:solidFill>
                  <a:srgbClr val="AAAACC"/>
                </a:solidFill>
              </a:rPr>
              <a:t>Legacy Latest</a:t>
            </a:r>
          </a:p>
          <a:p>
            <a:pPr algn="ctr"/>
            <a:r>
              <a:rPr sz="2200" b="1">
                <a:solidFill>
                  <a:srgbClr val="4A90D9"/>
                </a:solidFill>
              </a:rPr>
              <a:t>47</a:t>
            </a:r>
          </a:p>
          <a:p>
            <a:pPr algn="ctr"/>
            <a:r>
              <a:rPr sz="750">
                <a:solidFill>
                  <a:srgbClr val="AAAACC"/>
                </a:solidFill>
              </a:rPr>
              <a:t>May 23  •  −92% from peak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777240"/>
            <a:ext cx="2560320" cy="841248"/>
          </a:xfrm>
          <a:prstGeom prst="rect">
            <a:avLst/>
          </a:prstGeom>
          <a:solidFill>
            <a:srgbClr val="1A1A3E"/>
          </a:solidFill>
          <a:ln w="1905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25400" wrap="none"/>
          <a:lstStyle/>
          <a:p>
            <a:pPr algn="ctr"/>
            <a:r>
              <a:rPr sz="800">
                <a:solidFill>
                  <a:srgbClr val="AAAACC"/>
                </a:solidFill>
              </a:rPr>
              <a:t>MI-360 Peak</a:t>
            </a:r>
          </a:p>
          <a:p>
            <a:pPr algn="ctr"/>
            <a:r>
              <a:rPr sz="2200" b="1">
                <a:solidFill>
                  <a:srgbClr val="2ECC9A"/>
                </a:solidFill>
              </a:rPr>
              <a:t>281</a:t>
            </a:r>
          </a:p>
          <a:p>
            <a:pPr algn="ctr"/>
            <a:r>
              <a:rPr sz="750">
                <a:solidFill>
                  <a:srgbClr val="AAAACC"/>
                </a:solidFill>
              </a:rPr>
              <a:t>May 9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777240"/>
            <a:ext cx="2560320" cy="841248"/>
          </a:xfrm>
          <a:prstGeom prst="rect">
            <a:avLst/>
          </a:prstGeom>
          <a:solidFill>
            <a:srgbClr val="1A1A3E"/>
          </a:solidFill>
          <a:ln w="1905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25400" wrap="none"/>
          <a:lstStyle/>
          <a:p>
            <a:pPr algn="ctr"/>
            <a:r>
              <a:rPr sz="800">
                <a:solidFill>
                  <a:srgbClr val="AAAACC"/>
                </a:solidFill>
              </a:rPr>
              <a:t>MI-360 Latest</a:t>
            </a:r>
          </a:p>
          <a:p>
            <a:pPr algn="ctr"/>
            <a:r>
              <a:rPr sz="2200" b="1">
                <a:solidFill>
                  <a:srgbClr val="2ECC9A"/>
                </a:solidFill>
              </a:rPr>
              <a:t>215</a:t>
            </a:r>
          </a:p>
          <a:p>
            <a:pPr algn="ctr"/>
            <a:r>
              <a:rPr sz="750">
                <a:solidFill>
                  <a:srgbClr val="AAAACC"/>
                </a:solidFill>
              </a:rPr>
              <a:t>May 23  •  +126% vs start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783080"/>
          <a:ext cx="11430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